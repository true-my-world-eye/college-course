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342" r:id="rId3"/>
    <p:sldId id="360" r:id="rId4"/>
    <p:sldId id="361" r:id="rId5"/>
    <p:sldId id="346" r:id="rId6"/>
    <p:sldId id="358" r:id="rId7"/>
    <p:sldId id="359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2" r:id="rId18"/>
    <p:sldId id="371" r:id="rId19"/>
    <p:sldId id="353" r:id="rId20"/>
    <p:sldId id="354" r:id="rId21"/>
    <p:sldId id="355" r:id="rId22"/>
    <p:sldId id="356" r:id="rId23"/>
    <p:sldId id="357" r:id="rId24"/>
    <p:sldId id="384" r:id="rId25"/>
    <p:sldId id="385" r:id="rId26"/>
    <p:sldId id="386" r:id="rId27"/>
    <p:sldId id="388" r:id="rId28"/>
    <p:sldId id="373" r:id="rId29"/>
    <p:sldId id="374" r:id="rId30"/>
    <p:sldId id="375" r:id="rId31"/>
    <p:sldId id="376" r:id="rId32"/>
    <p:sldId id="377" r:id="rId33"/>
    <p:sldId id="378" r:id="rId34"/>
    <p:sldId id="379" r:id="rId35"/>
    <p:sldId id="380" r:id="rId36"/>
    <p:sldId id="389" r:id="rId37"/>
    <p:sldId id="381" r:id="rId38"/>
    <p:sldId id="382" r:id="rId39"/>
    <p:sldId id="383" r:id="rId40"/>
  </p:sldIdLst>
  <p:sldSz cx="10080625" cy="7559675"/>
  <p:notesSz cx="7559675" cy="10691813"/>
  <p:defaultTextStyle>
    <a:defPPr>
      <a:defRPr lang="en-GB"/>
    </a:defPPr>
    <a:lvl1pPr algn="l" defTabSz="448945" rtl="0" fontAlgn="base" hangingPunct="0">
      <a:lnSpc>
        <a:spcPct val="112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503050405090304" pitchFamily="18" charset="0"/>
      <a:defRPr sz="2400" kern="1200">
        <a:solidFill>
          <a:schemeClr val="bg1"/>
        </a:solidFill>
        <a:latin typeface="MSung Light SC" charset="0"/>
        <a:ea typeface="+mn-ea"/>
        <a:cs typeface="+mn-cs"/>
      </a:defRPr>
    </a:lvl1pPr>
    <a:lvl2pPr marL="742950" indent="-285750" algn="l" defTabSz="448945" rtl="0" fontAlgn="base" hangingPunct="0">
      <a:lnSpc>
        <a:spcPct val="112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503050405090304" pitchFamily="18" charset="0"/>
      <a:defRPr sz="2400" kern="1200">
        <a:solidFill>
          <a:schemeClr val="bg1"/>
        </a:solidFill>
        <a:latin typeface="MSung Light SC" charset="0"/>
        <a:ea typeface="+mn-ea"/>
        <a:cs typeface="+mn-cs"/>
      </a:defRPr>
    </a:lvl2pPr>
    <a:lvl3pPr marL="1143000" indent="-228600" algn="l" defTabSz="448945" rtl="0" fontAlgn="base" hangingPunct="0">
      <a:lnSpc>
        <a:spcPct val="112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503050405090304" pitchFamily="18" charset="0"/>
      <a:defRPr sz="2400" kern="1200">
        <a:solidFill>
          <a:schemeClr val="bg1"/>
        </a:solidFill>
        <a:latin typeface="MSung Light SC" charset="0"/>
        <a:ea typeface="+mn-ea"/>
        <a:cs typeface="+mn-cs"/>
      </a:defRPr>
    </a:lvl3pPr>
    <a:lvl4pPr marL="1600200" indent="-228600" algn="l" defTabSz="448945" rtl="0" fontAlgn="base" hangingPunct="0">
      <a:lnSpc>
        <a:spcPct val="112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503050405090304" pitchFamily="18" charset="0"/>
      <a:defRPr sz="2400" kern="1200">
        <a:solidFill>
          <a:schemeClr val="bg1"/>
        </a:solidFill>
        <a:latin typeface="MSung Light SC" charset="0"/>
        <a:ea typeface="+mn-ea"/>
        <a:cs typeface="+mn-cs"/>
      </a:defRPr>
    </a:lvl4pPr>
    <a:lvl5pPr marL="2057400" indent="-228600" algn="l" defTabSz="448945" rtl="0" fontAlgn="base" hangingPunct="0">
      <a:lnSpc>
        <a:spcPct val="112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503050405090304" pitchFamily="18" charset="0"/>
      <a:defRPr sz="2400" kern="1200">
        <a:solidFill>
          <a:schemeClr val="bg1"/>
        </a:solidFill>
        <a:latin typeface="MSung Light SC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MSung Light SC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333300"/>
    <a:srgbClr val="3A0411"/>
    <a:srgbClr val="003629"/>
    <a:srgbClr val="6AE26D"/>
    <a:srgbClr val="FFFF00"/>
    <a:srgbClr val="99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71" autoAdjust="0"/>
  </p:normalViewPr>
  <p:slideViewPr>
    <p:cSldViewPr>
      <p:cViewPr varScale="1">
        <p:scale>
          <a:sx n="63" d="100"/>
          <a:sy n="63" d="100"/>
        </p:scale>
        <p:origin x="1196" y="48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anchor="ctr"/>
          <a:lstStyle/>
          <a:p>
            <a:pPr>
              <a:buFont typeface="Times New Roman" panose="02020503050405090304" pitchFamily="18" charset="0"/>
              <a:buNone/>
              <a:defRPr/>
            </a:pPr>
            <a:endParaRPr lang="zh-CN" altLang="en-US"/>
          </a:p>
        </p:txBody>
      </p:sp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>
              <a:buFont typeface="Times New Roman" panose="02020503050405090304" pitchFamily="18" charset="0"/>
              <a:buNone/>
              <a:defRPr/>
            </a:pPr>
            <a:endParaRPr lang="zh-CN" altLang="en-US"/>
          </a:p>
        </p:txBody>
      </p:sp>
      <p:sp>
        <p:nvSpPr>
          <p:cNvPr id="17412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noFill/>
          <a:ln w="9525">
            <a:noFill/>
            <a:round/>
          </a:ln>
        </p:spPr>
      </p:sp>
      <p:sp>
        <p:nvSpPr>
          <p:cNvPr id="3076" name="Rectangle 4"/>
          <p:cNvSpPr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0" tIns="0" rIns="0" bIns="0" numCol="1" anchor="t" anchorCtr="0" compatLnSpc="1"/>
          <a:lstStyle/>
          <a:p>
            <a:pPr lvl="0"/>
            <a:endParaRPr lang="zh-CN" altLang="zh-CN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503050405090304" pitchFamily="18" charset="0"/>
      <a:defRPr sz="1200" kern="1200">
        <a:solidFill>
          <a:srgbClr val="000000"/>
        </a:solidFill>
        <a:latin typeface="Times New Roman" panose="0202050305040509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503050405090304" pitchFamily="18" charset="0"/>
      <a:defRPr sz="1200" kern="1200">
        <a:solidFill>
          <a:srgbClr val="000000"/>
        </a:solidFill>
        <a:latin typeface="Times New Roman" panose="0202050305040509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503050405090304" pitchFamily="18" charset="0"/>
      <a:defRPr sz="1200" kern="1200">
        <a:solidFill>
          <a:srgbClr val="000000"/>
        </a:solidFill>
        <a:latin typeface="Times New Roman" panose="0202050305040509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503050405090304" pitchFamily="18" charset="0"/>
      <a:defRPr sz="1200" kern="1200">
        <a:solidFill>
          <a:srgbClr val="000000"/>
        </a:solidFill>
        <a:latin typeface="Times New Roman" panose="0202050305040509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503050405090304" pitchFamily="18" charset="0"/>
      <a:defRPr sz="1200" kern="1200">
        <a:solidFill>
          <a:srgbClr val="000000"/>
        </a:solidFill>
        <a:latin typeface="Times New Roman" panose="0202050305040509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1312863" y="1027113"/>
            <a:ext cx="4933950" cy="370046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body"/>
          </p:nvPr>
        </p:nvSpPr>
        <p:spPr>
          <a:xfrm>
            <a:off x="1169988" y="5086350"/>
            <a:ext cx="5226050" cy="4106863"/>
          </a:xfrm>
          <a:noFill/>
        </p:spPr>
        <p:txBody>
          <a:bodyPr wrap="none" anchor="ctr"/>
          <a:lstStyle/>
          <a:p>
            <a:endParaRPr lang="zh-CN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404" y="0"/>
            <a:ext cx="8602662" cy="77944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2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54000" y="136525"/>
            <a:ext cx="9501188" cy="642938"/>
          </a:xfrm>
          <a:prstGeom prst="rect">
            <a:avLst/>
          </a:prstGeom>
          <a:noFill/>
          <a:ln w="9525">
            <a:noFill/>
            <a:round/>
          </a:ln>
        </p:spPr>
        <p:txBody>
          <a:bodyPr vert="horz" wrap="square" lIns="0" tIns="0" rIns="0" bIns="0" numCol="1" anchor="ctr" anchorCtr="0" compatLnSpc="1"/>
          <a:lstStyle/>
          <a:p>
            <a:pPr lvl="0"/>
            <a:r>
              <a:rPr lang="zh-CN" altLang="en-GB"/>
              <a:t>单击鼠标编辑标题文的格式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922338"/>
            <a:ext cx="9504363" cy="6357937"/>
          </a:xfrm>
          <a:prstGeom prst="rect">
            <a:avLst/>
          </a:prstGeom>
          <a:noFill/>
          <a:ln w="9525">
            <a:noFill/>
            <a:round/>
          </a:ln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zh-CN" altLang="en-GB"/>
              <a:t>单击鼠标编辑大纲正文格式</a:t>
            </a:r>
          </a:p>
          <a:p>
            <a:pPr lvl="1"/>
            <a:r>
              <a:rPr lang="zh-CN" altLang="en-GB"/>
              <a:t> 第二个大纲级</a:t>
            </a:r>
          </a:p>
          <a:p>
            <a:pPr lvl="2"/>
            <a:r>
              <a:rPr lang="zh-CN" altLang="en-GB"/>
              <a:t> 第三个大纲级</a:t>
            </a:r>
          </a:p>
          <a:p>
            <a:pPr lvl="3"/>
            <a:r>
              <a:rPr lang="zh-CN" altLang="en-GB"/>
              <a:t> 第四个大纲级</a:t>
            </a:r>
          </a:p>
          <a:p>
            <a:pPr lvl="4"/>
            <a:r>
              <a:rPr lang="zh-CN" altLang="en-GB"/>
              <a:t>第五个大纲级</a:t>
            </a:r>
          </a:p>
          <a:p>
            <a:pPr lvl="4"/>
            <a:r>
              <a:rPr lang="zh-CN" altLang="en-GB"/>
              <a:t>第六个大纲级</a:t>
            </a:r>
          </a:p>
          <a:p>
            <a:pPr lvl="4"/>
            <a:r>
              <a:rPr lang="zh-CN" altLang="en-GB"/>
              <a:t>第七个大纲级</a:t>
            </a:r>
          </a:p>
          <a:p>
            <a:pPr lvl="4"/>
            <a:r>
              <a:rPr lang="zh-CN" altLang="en-GB"/>
              <a:t>第八个大纲级</a:t>
            </a:r>
          </a:p>
          <a:p>
            <a:pPr lvl="4"/>
            <a:r>
              <a:rPr lang="zh-CN" altLang="en-GB"/>
              <a:t>第九个大纲级</a:t>
            </a: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flipV="1">
            <a:off x="0" y="804863"/>
            <a:ext cx="10080625" cy="36512"/>
          </a:xfrm>
          <a:prstGeom prst="roundRect">
            <a:avLst>
              <a:gd name="adj" fmla="val 1667"/>
            </a:avLst>
          </a:prstGeom>
          <a:solidFill>
            <a:srgbClr val="FF9966"/>
          </a:solidFill>
          <a:ln w="635" cmpd="dbl">
            <a:solidFill>
              <a:schemeClr val="tx1"/>
            </a:solidFill>
            <a:round/>
          </a:ln>
        </p:spPr>
        <p:txBody>
          <a:bodyPr wrap="none" lIns="91430" tIns="45716" rIns="91430" bIns="45716" anchor="ctr"/>
          <a:lstStyle/>
          <a:p>
            <a:pPr>
              <a:defRPr/>
            </a:pPr>
            <a:endParaRPr lang="zh-CN" altLang="en-US">
              <a:ea typeface="SimSun" pitchFamily="2" charset="-122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7350125"/>
            <a:ext cx="10080625" cy="273050"/>
          </a:xfrm>
          <a:prstGeom prst="rect">
            <a:avLst/>
          </a:prstGeom>
          <a:solidFill>
            <a:srgbClr val="663300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200" b="1" dirty="0">
                <a:solidFill>
                  <a:srgbClr val="FFFF00"/>
                </a:solidFill>
                <a:latin typeface="新宋体" pitchFamily="49" charset="-122"/>
                <a:ea typeface="新宋体" pitchFamily="49" charset="-122"/>
              </a:rPr>
              <a:t>        </a:t>
            </a:r>
            <a:r>
              <a:rPr lang="en-US" altLang="zh-CN" sz="1200" b="1" dirty="0">
                <a:latin typeface="新宋体" pitchFamily="49" charset="-122"/>
                <a:ea typeface="新宋体" pitchFamily="49" charset="-122"/>
              </a:rPr>
              <a:t>《Python</a:t>
            </a:r>
            <a:r>
              <a:rPr lang="zh-CN" altLang="en-US" sz="1200" b="1" dirty="0">
                <a:latin typeface="新宋体" pitchFamily="49" charset="-122"/>
                <a:ea typeface="新宋体" pitchFamily="49" charset="-122"/>
              </a:rPr>
              <a:t>与数据科学</a:t>
            </a:r>
            <a:r>
              <a:rPr lang="en-US" altLang="zh-CN" sz="1200" b="1" dirty="0">
                <a:latin typeface="新宋体" pitchFamily="49" charset="-122"/>
                <a:ea typeface="新宋体" pitchFamily="49" charset="-122"/>
              </a:rPr>
              <a:t>》                                             </a:t>
            </a:r>
            <a:r>
              <a:rPr lang="zh-CN" altLang="en-US" sz="1200" b="1" dirty="0">
                <a:latin typeface="新宋体" pitchFamily="49" charset="-122"/>
                <a:ea typeface="新宋体" pitchFamily="49" charset="-122"/>
              </a:rPr>
              <a:t>浙江工商大学计算机科学与技术学院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448945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3200" b="1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defTabSz="448945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3200" b="1">
          <a:solidFill>
            <a:schemeClr val="bg1"/>
          </a:solidFill>
          <a:latin typeface="微软雅黑" pitchFamily="34" charset="-122"/>
          <a:ea typeface="微软雅黑" pitchFamily="34" charset="-122"/>
          <a:cs typeface="FZSongTi" pitchFamily="32" charset="0"/>
        </a:defRPr>
      </a:lvl2pPr>
      <a:lvl3pPr algn="l" defTabSz="448945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3200" b="1">
          <a:solidFill>
            <a:schemeClr val="bg1"/>
          </a:solidFill>
          <a:latin typeface="微软雅黑" pitchFamily="34" charset="-122"/>
          <a:ea typeface="微软雅黑" pitchFamily="34" charset="-122"/>
          <a:cs typeface="FZSongTi" pitchFamily="32" charset="0"/>
        </a:defRPr>
      </a:lvl3pPr>
      <a:lvl4pPr algn="l" defTabSz="448945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3200" b="1">
          <a:solidFill>
            <a:schemeClr val="bg1"/>
          </a:solidFill>
          <a:latin typeface="微软雅黑" pitchFamily="34" charset="-122"/>
          <a:ea typeface="微软雅黑" pitchFamily="34" charset="-122"/>
          <a:cs typeface="FZSongTi" pitchFamily="32" charset="0"/>
        </a:defRPr>
      </a:lvl4pPr>
      <a:lvl5pPr algn="l" defTabSz="448945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3200" b="1">
          <a:solidFill>
            <a:schemeClr val="bg1"/>
          </a:solidFill>
          <a:latin typeface="微软雅黑" pitchFamily="34" charset="-122"/>
          <a:ea typeface="微软雅黑" pitchFamily="34" charset="-122"/>
          <a:cs typeface="FZSongTi" pitchFamily="32" charset="0"/>
        </a:defRPr>
      </a:lvl5pPr>
      <a:lvl6pPr marL="25146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6pPr>
      <a:lvl7pPr marL="29718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7pPr>
      <a:lvl8pPr marL="34290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8pPr>
      <a:lvl9pPr marL="38862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4000" b="1" i="1">
          <a:solidFill>
            <a:srgbClr val="FF9966"/>
          </a:solidFill>
          <a:latin typeface="FZSongTi" pitchFamily="32" charset="0"/>
          <a:ea typeface="FZSongTi" pitchFamily="32" charset="0"/>
          <a:cs typeface="FZSongTi" pitchFamily="32" charset="0"/>
        </a:defRPr>
      </a:lvl9pPr>
    </p:titleStyle>
    <p:bodyStyle>
      <a:lvl1pPr marL="342900" indent="-342900" algn="l" defTabSz="448945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CC3300"/>
        </a:buClr>
        <a:buSzPct val="100000"/>
        <a:buFont typeface="Wingdings" panose="05000000000000000000" pitchFamily="2" charset="2"/>
        <a:buChar char="p"/>
        <a:defRPr sz="2600" b="1">
          <a:solidFill>
            <a:srgbClr val="E6E6E6"/>
          </a:solidFill>
          <a:latin typeface="Times New Roman" panose="02020503050405090304" pitchFamily="18" charset="0"/>
          <a:ea typeface="SimSun" pitchFamily="2" charset="-122"/>
          <a:cs typeface="Times New Roman" panose="02020503050405090304" pitchFamily="18" charset="0"/>
        </a:defRPr>
      </a:lvl1pPr>
      <a:lvl2pPr marL="742950" indent="-285750" algn="l" defTabSz="448945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CC6600"/>
        </a:buClr>
        <a:buSzPct val="100000"/>
        <a:buFont typeface="Wingdings" panose="05000000000000000000" pitchFamily="2" charset="2"/>
        <a:buChar char="l"/>
        <a:defRPr sz="2400" b="1">
          <a:solidFill>
            <a:srgbClr val="E6E6E6"/>
          </a:solidFill>
          <a:latin typeface="Times New Roman" panose="02020503050405090304" pitchFamily="18" charset="0"/>
          <a:ea typeface="SimSun" pitchFamily="2" charset="-122"/>
          <a:cs typeface="Times New Roman" panose="02020503050405090304" pitchFamily="18" charset="0"/>
        </a:defRPr>
      </a:lvl2pPr>
      <a:lvl3pPr marL="1143000" indent="-230505" algn="l" defTabSz="448945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FFFF00"/>
        </a:buClr>
        <a:buSzPct val="100000"/>
        <a:buFont typeface="Wingdings" panose="05000000000000000000" pitchFamily="2" charset="2"/>
        <a:buChar char="ü"/>
        <a:defRPr sz="2400" b="1">
          <a:solidFill>
            <a:srgbClr val="E6E6E6"/>
          </a:solidFill>
          <a:latin typeface="Times New Roman" panose="02020503050405090304" pitchFamily="18" charset="0"/>
          <a:ea typeface="SimSun" pitchFamily="2" charset="-122"/>
          <a:cs typeface="Times New Roman" panose="02020503050405090304" pitchFamily="18" charset="0"/>
        </a:defRPr>
      </a:lvl3pPr>
      <a:lvl4pPr marL="1600200" indent="-228600" algn="l" defTabSz="448945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FFCC00"/>
        </a:buClr>
        <a:buSzPct val="100000"/>
        <a:buFont typeface="Wingdings" panose="05000000000000000000" pitchFamily="2" charset="2"/>
        <a:buChar char="Ø"/>
        <a:defRPr sz="2000" b="1">
          <a:solidFill>
            <a:srgbClr val="E6E6E6"/>
          </a:solidFill>
          <a:latin typeface="Times New Roman" panose="02020503050405090304" pitchFamily="18" charset="0"/>
          <a:ea typeface="SimSun" pitchFamily="2" charset="-122"/>
          <a:cs typeface="Times New Roman" panose="02020503050405090304" pitchFamily="18" charset="0"/>
        </a:defRPr>
      </a:lvl4pPr>
      <a:lvl5pPr marL="2057400" indent="-228600" algn="l" defTabSz="448945" rtl="0" eaLnBrk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buChar char="»"/>
        <a:defRPr sz="2000" b="1">
          <a:solidFill>
            <a:srgbClr val="E6E6E6"/>
          </a:solidFill>
          <a:latin typeface="Times New Roman" panose="02020503050405090304" pitchFamily="18" charset="0"/>
          <a:ea typeface="SimSun" pitchFamily="2" charset="-122"/>
          <a:cs typeface="Times New Roman" panose="02020503050405090304" pitchFamily="18" charset="0"/>
        </a:defRPr>
      </a:lvl5pPr>
      <a:lvl6pPr marL="25146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6pPr>
      <a:lvl7pPr marL="29718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7pPr>
      <a:lvl8pPr marL="34290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8pPr>
      <a:lvl9pPr marL="3886200" indent="-228600" algn="l" defTabSz="448945" rtl="0" fontAlgn="base" hangingPunct="0">
        <a:lnSpc>
          <a:spcPct val="11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503050405090304" pitchFamily="18" charset="0"/>
        <a:defRPr sz="2000">
          <a:solidFill>
            <a:srgbClr val="E6E6E6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>
          <a:xfrm>
            <a:off x="503238" y="1801813"/>
            <a:ext cx="8607425" cy="1263650"/>
          </a:xfrm>
        </p:spPr>
        <p:txBody>
          <a:bodyPr/>
          <a:lstStyle/>
          <a:p>
            <a:pPr algn="ctr" eaLnBrk="1">
              <a:buClrTx/>
              <a:buFontTx/>
              <a:buNone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2400" algn="l"/>
                <a:tab pos="3143250" algn="l"/>
                <a:tab pos="3592195" algn="l"/>
                <a:tab pos="4039870" algn="l"/>
                <a:tab pos="4490720" algn="l"/>
                <a:tab pos="4940300" algn="l"/>
                <a:tab pos="5389245" algn="l"/>
                <a:tab pos="5836920" algn="l"/>
                <a:tab pos="6287770" algn="l"/>
                <a:tab pos="6737350" algn="l"/>
                <a:tab pos="7185025" algn="l"/>
                <a:tab pos="7633970" algn="l"/>
                <a:tab pos="8084820" algn="l"/>
                <a:tab pos="8534400" algn="l"/>
                <a:tab pos="8982075" algn="l"/>
              </a:tabLst>
            </a:pPr>
            <a:r>
              <a:rPr lang="zh-CN" altLang="en-US" sz="4400" dirty="0">
                <a:solidFill>
                  <a:srgbClr val="FFCC00"/>
                </a:solidFill>
              </a:rPr>
              <a:t>第</a:t>
            </a:r>
            <a:r>
              <a:rPr lang="en-US" altLang="zh-CN" sz="4400" dirty="0">
                <a:solidFill>
                  <a:srgbClr val="FFCC00"/>
                </a:solidFill>
              </a:rPr>
              <a:t>2</a:t>
            </a:r>
            <a:r>
              <a:rPr lang="zh-CN" altLang="en-US" sz="4400" dirty="0">
                <a:solidFill>
                  <a:srgbClr val="FFCC00"/>
                </a:solidFill>
              </a:rPr>
              <a:t>章 数据结构</a:t>
            </a:r>
            <a:endParaRPr lang="zh-CN" altLang="en-GB" sz="4400" dirty="0">
              <a:solidFill>
                <a:srgbClr val="FFCC00"/>
              </a:solidFill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2149475" y="3419475"/>
            <a:ext cx="6176963" cy="2374900"/>
          </a:xfrm>
        </p:spPr>
        <p:txBody>
          <a:bodyPr anchor="ctr"/>
          <a:lstStyle/>
          <a:p>
            <a:pPr indent="-339725" algn="r" eaLnBrk="1">
              <a:buClrTx/>
              <a:buFontTx/>
              <a:buNone/>
              <a:tabLst>
                <a:tab pos="34290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2400" algn="l"/>
                <a:tab pos="3143250" algn="l"/>
                <a:tab pos="3592195" algn="l"/>
                <a:tab pos="4039870" algn="l"/>
                <a:tab pos="4490720" algn="l"/>
                <a:tab pos="4940300" algn="l"/>
                <a:tab pos="5389245" algn="l"/>
                <a:tab pos="5836920" algn="l"/>
                <a:tab pos="6287770" algn="l"/>
                <a:tab pos="6737350" algn="l"/>
                <a:tab pos="7185025" algn="l"/>
                <a:tab pos="7633970" algn="l"/>
                <a:tab pos="8084820" algn="l"/>
                <a:tab pos="8534400" algn="l"/>
                <a:tab pos="8982075" algn="l"/>
              </a:tabLst>
            </a:pPr>
            <a:r>
              <a:rPr lang="en-GB" altLang="zh-CN" dirty="0">
                <a:solidFill>
                  <a:srgbClr val="CCCCCC"/>
                </a:solidFill>
                <a:ea typeface="微软雅黑" pitchFamily="34" charset="-122"/>
              </a:rPr>
              <a:t>               </a:t>
            </a:r>
            <a:r>
              <a:rPr lang="zh-CN" altLang="en-GB" dirty="0">
                <a:solidFill>
                  <a:srgbClr val="CCCCCC"/>
                </a:solidFill>
                <a:ea typeface="微软雅黑" pitchFamily="34" charset="-122"/>
              </a:rPr>
              <a:t>主讲人</a:t>
            </a:r>
            <a:r>
              <a:rPr lang="zh-CN" altLang="en-GB" dirty="0">
                <a:solidFill>
                  <a:srgbClr val="CCCCCC"/>
                </a:solidFill>
                <a:ea typeface="SimSun" pitchFamily="2" charset="-122"/>
              </a:rPr>
              <a:t>：</a:t>
            </a:r>
            <a:r>
              <a:rPr lang="zh-CN" altLang="en-GB" dirty="0">
                <a:solidFill>
                  <a:srgbClr val="CCCCCC"/>
                </a:solidFill>
                <a:ea typeface="微软雅黑" pitchFamily="34" charset="-122"/>
              </a:rPr>
              <a:t>丁鑫怡</a:t>
            </a:r>
            <a:endParaRPr lang="en-US" altLang="zh-CN" dirty="0">
              <a:solidFill>
                <a:srgbClr val="CCCCCC"/>
              </a:solidFill>
              <a:ea typeface="微软雅黑" pitchFamily="34" charset="-122"/>
            </a:endParaRPr>
          </a:p>
          <a:p>
            <a:pPr indent="-339725" algn="r" eaLnBrk="1">
              <a:buClrTx/>
              <a:buFontTx/>
              <a:buNone/>
              <a:tabLst>
                <a:tab pos="34290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2400" algn="l"/>
                <a:tab pos="3143250" algn="l"/>
                <a:tab pos="3592195" algn="l"/>
                <a:tab pos="4039870" algn="l"/>
                <a:tab pos="4490720" algn="l"/>
                <a:tab pos="4940300" algn="l"/>
                <a:tab pos="5389245" algn="l"/>
                <a:tab pos="5836920" algn="l"/>
                <a:tab pos="6287770" algn="l"/>
                <a:tab pos="6737350" algn="l"/>
                <a:tab pos="7185025" algn="l"/>
                <a:tab pos="7633970" algn="l"/>
                <a:tab pos="8084820" algn="l"/>
                <a:tab pos="8534400" algn="l"/>
                <a:tab pos="8982075" algn="l"/>
              </a:tabLst>
            </a:pPr>
            <a:r>
              <a:rPr lang="zh-CN" altLang="en-US" dirty="0">
                <a:solidFill>
                  <a:srgbClr val="CCCCCC"/>
                </a:solidFill>
                <a:ea typeface="微软雅黑" pitchFamily="34" charset="-122"/>
              </a:rPr>
              <a:t>浙江工商大学计算机科学与技术学院</a:t>
            </a:r>
            <a:r>
              <a:rPr lang="zh-CN" altLang="en-GB" dirty="0">
                <a:solidFill>
                  <a:srgbClr val="CCCCCC"/>
                </a:solidFill>
                <a:ea typeface="微软雅黑" pitchFamily="34" charset="-122"/>
              </a:rPr>
              <a:t>  </a:t>
            </a:r>
          </a:p>
        </p:txBody>
      </p:sp>
      <p:sp>
        <p:nvSpPr>
          <p:cNvPr id="2052" name="TextBox 3"/>
          <p:cNvSpPr txBox="1">
            <a:spLocks noChangeArrowheads="1"/>
          </p:cNvSpPr>
          <p:nvPr/>
        </p:nvSpPr>
        <p:spPr bwMode="auto">
          <a:xfrm>
            <a:off x="1397000" y="207963"/>
            <a:ext cx="7072313" cy="6120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《Python 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与数据科学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》</a:t>
            </a:r>
            <a:endParaRPr lang="zh-CN" altLang="en-US" sz="3200" b="1" dirty="0">
              <a:ea typeface="SimSun" pitchFamily="2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提纲</a:t>
            </a:r>
          </a:p>
        </p:txBody>
      </p:sp>
      <p:sp>
        <p:nvSpPr>
          <p:cNvPr id="3075" name="内容占位符 2"/>
          <p:cNvSpPr>
            <a:spLocks noGrp="1"/>
          </p:cNvSpPr>
          <p:nvPr>
            <p:ph idx="1"/>
          </p:nvPr>
        </p:nvSpPr>
        <p:spPr>
          <a:xfrm>
            <a:off x="254000" y="922338"/>
            <a:ext cx="5143500" cy="635793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dirty="0">
                <a:ea typeface="SimSun" pitchFamily="2" charset="-122"/>
              </a:rPr>
              <a:t>2.1 </a:t>
            </a:r>
            <a:r>
              <a:rPr lang="zh-CN" altLang="en-US" dirty="0">
                <a:ea typeface="SimSun" pitchFamily="2" charset="-122"/>
              </a:rPr>
              <a:t>数据类型与运算符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a typeface="SimSun" pitchFamily="2" charset="-122"/>
              </a:rPr>
              <a:t>2.2 </a:t>
            </a:r>
            <a:r>
              <a:rPr lang="zh-CN" altLang="en-US" dirty="0">
                <a:ea typeface="SimSun" pitchFamily="2" charset="-122"/>
              </a:rPr>
              <a:t>列表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a typeface="SimSun" pitchFamily="2" charset="-122"/>
              </a:rPr>
              <a:t>2.3 </a:t>
            </a:r>
            <a:r>
              <a:rPr lang="zh-CN" altLang="en-US" dirty="0">
                <a:ea typeface="SimSun" pitchFamily="2" charset="-122"/>
              </a:rPr>
              <a:t>字符串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a typeface="SimSun" pitchFamily="2" charset="-122"/>
              </a:rPr>
              <a:t>2.4 </a:t>
            </a:r>
            <a:r>
              <a:rPr lang="zh-CN" altLang="en-US" dirty="0">
                <a:ea typeface="SimSun" pitchFamily="2" charset="-122"/>
              </a:rPr>
              <a:t>元组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a typeface="SimSun" pitchFamily="2" charset="-122"/>
              </a:rPr>
              <a:t>2.5 </a:t>
            </a:r>
            <a:r>
              <a:rPr lang="zh-CN" altLang="en-US" dirty="0">
                <a:ea typeface="SimSun" pitchFamily="2" charset="-122"/>
              </a:rPr>
              <a:t>字典</a:t>
            </a:r>
            <a:endParaRPr lang="en-US" altLang="zh-CN" dirty="0">
              <a:ea typeface="SimSun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ea typeface="SimSun" pitchFamily="2" charset="-122"/>
              </a:rPr>
              <a:t>2.6 </a:t>
            </a:r>
            <a:r>
              <a:rPr lang="zh-CN" altLang="en-US" dirty="0">
                <a:ea typeface="SimSun" pitchFamily="2" charset="-122"/>
              </a:rPr>
              <a:t>集合</a:t>
            </a:r>
          </a:p>
          <a:p>
            <a:endParaRPr lang="zh-CN" altLang="en-US" dirty="0">
              <a:ea typeface="SimSun" pitchFamily="2" charset="-122"/>
            </a:endParaRPr>
          </a:p>
        </p:txBody>
      </p:sp>
      <p:pic>
        <p:nvPicPr>
          <p:cNvPr id="3076" name="Picture 5" descr="http://a5.mzstatic.com/us/r30/Purple2/v4/49/b7/19/49b71935-f472-9c9c-03be-8388a6fd4b00/mzl.fazslfja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75" y="993775"/>
            <a:ext cx="3721100" cy="372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数据类型与运算符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仅仅打印“</a:t>
            </a:r>
            <a:r>
              <a:rPr lang="en-US" altLang="zh-CN" dirty="0"/>
              <a:t>Hello World”</a:t>
            </a:r>
            <a:r>
              <a:rPr lang="zh-CN" altLang="en-US" dirty="0"/>
              <a:t>就足够了吗？我们应该想要做更多的事</a:t>
            </a:r>
            <a:r>
              <a:rPr lang="en-US" altLang="zh-CN" dirty="0"/>
              <a:t>——</a:t>
            </a:r>
            <a:r>
              <a:rPr lang="zh-CN" altLang="en-US" dirty="0"/>
              <a:t>想要得到一些输入，然后做操作，再从中得到一些输出。在</a:t>
            </a:r>
            <a:r>
              <a:rPr lang="en-US" altLang="zh-CN" dirty="0"/>
              <a:t>Python</a:t>
            </a:r>
            <a:r>
              <a:rPr lang="zh-CN" altLang="en-US" dirty="0"/>
              <a:t>中，我们可以使用常量和变量，考虑数据类型与结构，利用运算符来完成这些工作。 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2.1-1 </a:t>
            </a:r>
            <a:r>
              <a:rPr lang="zh-CN" altLang="en-US" dirty="0"/>
              <a:t>标识符与变量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变量是标识符的例子。命名规则基本与</a:t>
            </a:r>
            <a:r>
              <a:rPr lang="en-US" altLang="zh-CN" sz="2400" dirty="0"/>
              <a:t>C</a:t>
            </a:r>
            <a:r>
              <a:rPr lang="zh-CN" altLang="en-US" sz="2400" dirty="0"/>
              <a:t>语言相同，不再赘述。</a:t>
            </a:r>
            <a:endParaRPr lang="en-US" altLang="zh-CN" sz="2400" dirty="0"/>
          </a:p>
          <a:p>
            <a:r>
              <a:rPr lang="zh-CN" altLang="en-US" sz="2400" dirty="0"/>
              <a:t>关键字</a:t>
            </a:r>
            <a:endParaRPr lang="zh-CN" altLang="en-US" dirty="0"/>
          </a:p>
        </p:txBody>
      </p:sp>
      <p:graphicFrame>
        <p:nvGraphicFramePr>
          <p:cNvPr id="4" name="Group 427"/>
          <p:cNvGraphicFramePr/>
          <p:nvPr/>
        </p:nvGraphicFramePr>
        <p:xfrm>
          <a:off x="682594" y="1851011"/>
          <a:ext cx="8229600" cy="4389441"/>
        </p:xfrm>
        <a:graphic>
          <a:graphicData uri="http://schemas.openxmlformats.org/drawingml/2006/table">
            <a:tbl>
              <a:tblPr/>
              <a:tblGrid>
                <a:gridCol w="1646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0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and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del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from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not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while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as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elif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global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or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with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assert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else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if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pass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yield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break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except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import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print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黑体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class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exec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in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raise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黑体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continue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finally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is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return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黑体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def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for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lambda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SimSun" pitchFamily="2" charset="-122"/>
                        </a:rPr>
                        <a:t>try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itchFamily="49" charset="0"/>
                        <a:ea typeface="黑体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2.1-2 </a:t>
            </a:r>
            <a:r>
              <a:rPr lang="zh-CN" altLang="en-US" dirty="0"/>
              <a:t>数据类型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数字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整数      </a:t>
            </a:r>
            <a:r>
              <a:rPr lang="en-US" altLang="zh-CN" dirty="0">
                <a:ea typeface="SimSun" pitchFamily="2" charset="-122"/>
              </a:rPr>
              <a:t>integer, </a:t>
            </a:r>
            <a:r>
              <a:rPr lang="en-US" altLang="zh-CN" dirty="0" err="1">
                <a:ea typeface="SimSun" pitchFamily="2" charset="-122"/>
              </a:rPr>
              <a:t>long,boolean</a:t>
            </a:r>
            <a:endParaRPr lang="zh-CN" altLang="en-US" dirty="0">
              <a:ea typeface="SimSun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浮点数  </a:t>
            </a:r>
            <a:r>
              <a:rPr lang="en-US" altLang="zh-CN" dirty="0">
                <a:ea typeface="SimSun" pitchFamily="2" charset="-122"/>
              </a:rPr>
              <a:t>float, complex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基本数据结构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序列      </a:t>
            </a:r>
            <a:r>
              <a:rPr lang="en-US" altLang="zh-CN" dirty="0">
                <a:ea typeface="SimSun" pitchFamily="2" charset="-122"/>
              </a:rPr>
              <a:t>sequence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列表           </a:t>
            </a:r>
            <a:r>
              <a:rPr lang="en-US" altLang="zh-CN" dirty="0">
                <a:ea typeface="SimSun" pitchFamily="2" charset="-122"/>
              </a:rPr>
              <a:t>list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字符串       </a:t>
            </a:r>
            <a:r>
              <a:rPr lang="en-US" altLang="zh-CN" dirty="0">
                <a:ea typeface="SimSun" pitchFamily="2" charset="-122"/>
              </a:rPr>
              <a:t>string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元组           </a:t>
            </a:r>
            <a:r>
              <a:rPr lang="en-US" altLang="zh-CN" dirty="0" err="1">
                <a:ea typeface="SimSun" pitchFamily="2" charset="-122"/>
              </a:rPr>
              <a:t>tuple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映射</a:t>
            </a:r>
            <a:endParaRPr lang="en-US" altLang="zh-CN" dirty="0">
              <a:ea typeface="SimSun" pitchFamily="2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字典         </a:t>
            </a:r>
            <a:r>
              <a:rPr lang="en-US" altLang="zh-CN" dirty="0">
                <a:ea typeface="SimSun" pitchFamily="2" charset="-122"/>
              </a:rPr>
              <a:t>dictionary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ea typeface="SimSun" pitchFamily="2" charset="-122"/>
              </a:rPr>
              <a:t>集合</a:t>
            </a:r>
            <a:r>
              <a:rPr lang="en-US" altLang="zh-CN" dirty="0">
                <a:ea typeface="SimSun" pitchFamily="2" charset="-122"/>
              </a:rPr>
              <a:t>            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2.1-3 </a:t>
            </a:r>
            <a:r>
              <a:rPr lang="zh-CN" altLang="en-US" dirty="0"/>
              <a:t>运算符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SimSun" pitchFamily="2" charset="-122"/>
              </a:rPr>
              <a:t>基本运算符</a:t>
            </a:r>
          </a:p>
        </p:txBody>
      </p:sp>
      <p:graphicFrame>
        <p:nvGraphicFramePr>
          <p:cNvPr id="4" name="Group 1219"/>
          <p:cNvGraphicFramePr/>
          <p:nvPr/>
        </p:nvGraphicFramePr>
        <p:xfrm>
          <a:off x="457200" y="1493821"/>
          <a:ext cx="9226582" cy="5802506"/>
        </p:xfrm>
        <a:graphic>
          <a:graphicData uri="http://schemas.openxmlformats.org/drawingml/2006/table">
            <a:tbl>
              <a:tblPr/>
              <a:tblGrid>
                <a:gridCol w="921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9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1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78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运算符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名称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说明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例子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+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加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两个对象相加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3 + 5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8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。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'a' + 'b'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'ab'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-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得到负数或是一个数减去另一个数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-5.2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得到一个负数。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50 - 24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26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6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*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两个数相乘或是返回一个被重复若干次的字符串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2 * 3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6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。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'la' * 3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'lalala'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2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**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 pitchFamily="34" charset="0"/>
                          <a:ea typeface="Times New Roman" panose="02020503050405090304" pitchFamily="18" charset="0"/>
                          <a:cs typeface="SimSun" pitchFamily="2" charset="-122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 pitchFamily="34" charset="0"/>
                          <a:ea typeface="Times New Roman" panose="02020503050405090304" pitchFamily="18" charset="0"/>
                          <a:cs typeface="SimSun" pitchFamily="2" charset="-122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 pitchFamily="34" charset="0"/>
                          <a:ea typeface="Times New Roman" panose="02020503050405090304" pitchFamily="18" charset="0"/>
                          <a:cs typeface="SimSun" pitchFamily="2" charset="-122"/>
                        </a:rPr>
                        <a:t>的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 pitchFamily="34" charset="0"/>
                          <a:ea typeface="Times New Roman" panose="02020503050405090304" pitchFamily="18" charset="0"/>
                          <a:cs typeface="SimSun" pitchFamily="2" charset="-122"/>
                        </a:rPr>
                        <a:t>y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 pitchFamily="34" charset="0"/>
                          <a:ea typeface="Times New Roman" panose="02020503050405090304" pitchFamily="18" charset="0"/>
                          <a:cs typeface="SimSun" pitchFamily="2" charset="-122"/>
                        </a:rPr>
                        <a:t>次幂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3 ** 4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81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（即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3 * 3 * 3 * 3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）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59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/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除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除以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4/3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1.3333333333333333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。而在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Python2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中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4/3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得到整数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2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//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取整除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返回商的整数部分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4 // 3.0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1.0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2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%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取模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返回除法的余数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8%3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。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-25.5%2.25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得到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</a:rPr>
                        <a:t>1.5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2.1-3 </a:t>
            </a:r>
            <a:r>
              <a:rPr lang="zh-CN" altLang="en-US" dirty="0"/>
              <a:t>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SimSun" pitchFamily="2" charset="-122"/>
              </a:rPr>
              <a:t>比较运算符</a:t>
            </a:r>
          </a:p>
          <a:p>
            <a:endParaRPr lang="zh-CN" altLang="en-US" dirty="0"/>
          </a:p>
        </p:txBody>
      </p:sp>
      <p:graphicFrame>
        <p:nvGraphicFramePr>
          <p:cNvPr id="4" name="Group 503"/>
          <p:cNvGraphicFramePr/>
          <p:nvPr/>
        </p:nvGraphicFramePr>
        <p:xfrm>
          <a:off x="457200" y="1600200"/>
          <a:ext cx="9369460" cy="5516880"/>
        </p:xfrm>
        <a:graphic>
          <a:graphicData uri="http://schemas.openxmlformats.org/drawingml/2006/table">
            <a:tbl>
              <a:tblPr/>
              <a:tblGrid>
                <a:gridCol w="10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4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7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运算符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名称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说明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例子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2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&lt;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小于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是否小于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。所有比较运算符返回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表示真，返回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表示假。这分别与特殊的变量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和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等价。注意变量名的大写。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5 &lt; 3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（即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）而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3 &lt; 5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（即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）。比较可以被任意连接：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3 &lt; 5 &lt; 7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2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&gt;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大于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是否大于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5 &gt; 3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。如果两个操作数都是数字，它们首先被转换为一个共同的类型。否则，它总是返回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&lt;=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小于等于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是否小于等于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 = 3; y = 6; x &lt;= y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&gt;=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大于等于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是否大于等于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 = 4; y = 3; x &gt;= y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2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==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等于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比较对象是否相等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 = 2; y = 2; x == y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 = 'str'; y = '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stR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'; x == y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 = 'str'; y = 'str'; x == y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!=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不等于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比较两个对象是否不相等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 = 2; y = 3; x != y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2.1-3 </a:t>
            </a:r>
            <a:r>
              <a:rPr lang="zh-CN" altLang="en-US" dirty="0"/>
              <a:t>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逻辑运算符</a:t>
            </a:r>
          </a:p>
        </p:txBody>
      </p:sp>
      <p:graphicFrame>
        <p:nvGraphicFramePr>
          <p:cNvPr id="4" name="Group 142"/>
          <p:cNvGraphicFramePr/>
          <p:nvPr/>
        </p:nvGraphicFramePr>
        <p:xfrm>
          <a:off x="396840" y="1565259"/>
          <a:ext cx="9358380" cy="5124768"/>
        </p:xfrm>
        <a:graphic>
          <a:graphicData uri="http://schemas.openxmlformats.org/drawingml/2006/table">
            <a:tbl>
              <a:tblPr/>
              <a:tblGrid>
                <a:gridCol w="142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运算符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名称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说明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例子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not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布尔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/>
                          <a:ea typeface="SimSun" pitchFamily="2" charset="-122"/>
                          <a:cs typeface="Times New Roman" panose="02020503050405090304" pitchFamily="18" charset="0"/>
                        </a:rPr>
                        <a:t>“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非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/>
                          <a:ea typeface="SimSun" pitchFamily="2" charset="-122"/>
                          <a:cs typeface="Times New Roman" panose="02020503050405090304" pitchFamily="18" charset="0"/>
                        </a:rPr>
                        <a:t>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如果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为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，返回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。如果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为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，它返回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 = True; not y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185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and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布尔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/>
                          <a:ea typeface="SimSun" pitchFamily="2" charset="-122"/>
                          <a:cs typeface="Times New Roman" panose="02020503050405090304" pitchFamily="18" charset="0"/>
                        </a:rPr>
                        <a:t>“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与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/>
                          <a:ea typeface="SimSun" pitchFamily="2" charset="-122"/>
                          <a:cs typeface="Times New Roman" panose="02020503050405090304" pitchFamily="18" charset="0"/>
                        </a:rPr>
                        <a:t>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如果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为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 and y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，否则它返回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的计算值。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 = False; y = True; x and y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，由于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是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，返回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。在这里，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Python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不会计算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，因为它知道这个表达式的值肯定是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（因为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是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False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）。这个现象 称为短路计算。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or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布尔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/>
                          <a:ea typeface="SimSun" pitchFamily="2" charset="-122"/>
                          <a:cs typeface="Times New Roman" panose="02020503050405090304" pitchFamily="18" charset="0"/>
                        </a:rPr>
                        <a:t>“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或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90204"/>
                          <a:ea typeface="SimSun" pitchFamily="2" charset="-122"/>
                          <a:cs typeface="Times New Roman" panose="02020503050405090304" pitchFamily="18" charset="0"/>
                        </a:rPr>
                        <a:t>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如果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是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，它返回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，否则它返回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的计算值。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x = True; y = False; x or y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返回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True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503050405090304" pitchFamily="18" charset="0"/>
                          <a:ea typeface="SimSun" pitchFamily="2" charset="-122"/>
                          <a:cs typeface="Times New Roman" panose="02020503050405090304" pitchFamily="18" charset="0"/>
                        </a:rPr>
                        <a:t>。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90204" pitchFamily="34" charset="0"/>
                        <a:ea typeface="SimSun" pitchFamily="2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列表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定义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是</a:t>
            </a:r>
            <a:r>
              <a:rPr lang="en-US" altLang="zh-CN" dirty="0"/>
              <a:t>Python</a:t>
            </a:r>
            <a:r>
              <a:rPr lang="zh-CN" altLang="en-US" dirty="0"/>
              <a:t>中最具灵活性的有序集合对象类型。列表可以包含任何种类的对象：数字、字符串、自定义对象甚至其他列表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特点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是可变对象（动态数组），支持在原处修改，可以通过指定的偏移值和切片、列表方法调用、删除语句等方法实现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2.2-1 </a:t>
            </a:r>
            <a:r>
              <a:rPr lang="zh-CN" altLang="en-US" dirty="0">
                <a:ea typeface="SimSun" pitchFamily="2" charset="-122"/>
              </a:rPr>
              <a:t>列表常量与基本操作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Group 4"/>
          <p:cNvGraphicFramePr/>
          <p:nvPr/>
        </p:nvGraphicFramePr>
        <p:xfrm>
          <a:off x="287338" y="993755"/>
          <a:ext cx="9504362" cy="5832477"/>
        </p:xfrm>
        <a:graphic>
          <a:graphicData uri="http://schemas.openxmlformats.org/drawingml/2006/table">
            <a:tbl>
              <a:tblPr/>
              <a:tblGrid>
                <a:gridCol w="5753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1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操作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解释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L1=[]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一个空的列表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L2 = [0, 1, 2, 3]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四元素列表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L3 = [‘abc’,10,[‘def’, ‘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ghi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’]]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嵌套列表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L2[i]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索引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L3[i][j]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索引的索引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L2[i:j]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切片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len(L2)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求长度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L1 + L2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合并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  <a:ea typeface="SimSun" pitchFamily="2" charset="-122"/>
                        </a:rPr>
                        <a:t>L2 * 3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重复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2.2-2 </a:t>
            </a:r>
            <a:r>
              <a:rPr lang="zh-CN" altLang="en-US" dirty="0"/>
              <a:t>列表的方法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append(x) </a:t>
            </a:r>
            <a:r>
              <a:rPr lang="zh-CN" altLang="en-US" dirty="0">
                <a:ea typeface="SimSun" pitchFamily="2" charset="-122"/>
              </a:rPr>
              <a:t>方法</a:t>
            </a:r>
            <a:endParaRPr lang="en-US" altLang="zh-CN" dirty="0">
              <a:ea typeface="SimSun" pitchFamily="2" charset="-122"/>
            </a:endParaRPr>
          </a:p>
          <a:p>
            <a:pPr lvl="1"/>
            <a:r>
              <a:rPr lang="zh-CN" altLang="en-US" dirty="0">
                <a:ea typeface="SimSun" pitchFamily="2" charset="-122"/>
              </a:rPr>
              <a:t>功能：向列表的尾部添加一个元素</a:t>
            </a:r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594" y="2279639"/>
            <a:ext cx="5184775" cy="327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2.2-2 </a:t>
            </a:r>
            <a:r>
              <a:rPr lang="zh-CN" altLang="en-US" dirty="0"/>
              <a:t>列表的方法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extend(</a:t>
            </a:r>
            <a:r>
              <a:rPr lang="en-US" altLang="zh-CN" dirty="0" err="1">
                <a:ea typeface="SimSun" pitchFamily="2" charset="-122"/>
              </a:rPr>
              <a:t>ls</a:t>
            </a:r>
            <a:r>
              <a:rPr lang="en-US" altLang="zh-CN" dirty="0">
                <a:ea typeface="SimSun" pitchFamily="2" charset="-122"/>
              </a:rPr>
              <a:t>)</a:t>
            </a:r>
          </a:p>
          <a:p>
            <a:pPr lvl="1"/>
            <a:r>
              <a:rPr lang="zh-CN" altLang="en-US" dirty="0">
                <a:ea typeface="SimSun" pitchFamily="2" charset="-122"/>
              </a:rPr>
              <a:t>功能：列表扩充</a:t>
            </a:r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56" y="1851011"/>
            <a:ext cx="6840537" cy="257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2.2-2 </a:t>
            </a:r>
            <a:r>
              <a:rPr lang="zh-CN" altLang="en-US" dirty="0"/>
              <a:t>列表的方法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insert(</a:t>
            </a:r>
            <a:r>
              <a:rPr lang="en-US" altLang="zh-CN" dirty="0" err="1">
                <a:ea typeface="SimSun" pitchFamily="2" charset="-122"/>
              </a:rPr>
              <a:t>i,x</a:t>
            </a:r>
            <a:r>
              <a:rPr lang="en-US" altLang="zh-CN" dirty="0">
                <a:ea typeface="SimSun" pitchFamily="2" charset="-122"/>
              </a:rPr>
              <a:t>)</a:t>
            </a:r>
          </a:p>
          <a:p>
            <a:pPr lvl="1"/>
            <a:r>
              <a:rPr lang="zh-CN" altLang="en-US" dirty="0">
                <a:ea typeface="SimSun" pitchFamily="2" charset="-122"/>
              </a:rPr>
              <a:t>向列表指定位置插入一个元素</a:t>
            </a:r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768" y="2764234"/>
            <a:ext cx="9504362" cy="434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6"/>
          <p:cNvSpPr txBox="1"/>
          <p:nvPr/>
        </p:nvSpPr>
        <p:spPr>
          <a:xfrm>
            <a:off x="143768" y="1844623"/>
            <a:ext cx="2872817" cy="91961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注意，这是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Python2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中的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range</a:t>
            </a:r>
            <a:endParaRPr lang="zh-CN" alt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0" y="1859683"/>
            <a:ext cx="6600825" cy="52673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624488" y="1991783"/>
            <a:ext cx="3164596" cy="91961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Python3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中的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range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，返回一个可迭代的对象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2.2-2 </a:t>
            </a:r>
            <a:r>
              <a:rPr lang="zh-CN" altLang="en-US" dirty="0"/>
              <a:t>列表的方法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remove(x)</a:t>
            </a:r>
          </a:p>
          <a:p>
            <a:pPr lvl="1"/>
            <a:r>
              <a:rPr lang="zh-CN" altLang="en-US" dirty="0"/>
              <a:t>功能：删除列表中值为</a:t>
            </a:r>
            <a:r>
              <a:rPr lang="en-US" altLang="zh-CN" dirty="0"/>
              <a:t>x</a:t>
            </a:r>
            <a:r>
              <a:rPr lang="zh-CN" altLang="en-US" dirty="0"/>
              <a:t>的第一个元素</a:t>
            </a:r>
          </a:p>
          <a:p>
            <a:r>
              <a:rPr lang="en-US" altLang="zh-CN" dirty="0"/>
              <a:t>pop(</a:t>
            </a:r>
            <a:r>
              <a:rPr lang="en-US" altLang="zh-CN" b="0" dirty="0"/>
              <a:t>[</a:t>
            </a:r>
            <a:r>
              <a:rPr lang="en-US" altLang="zh-CN" dirty="0" err="1"/>
              <a:t>i</a:t>
            </a:r>
            <a:r>
              <a:rPr lang="en-US" altLang="zh-CN" b="0" dirty="0"/>
              <a:t>]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>
                <a:ea typeface="黑体" pitchFamily="49" charset="-122"/>
              </a:rPr>
              <a:t>将列表中指定位置元素删除，并将其返回。如果没有指定索引</a:t>
            </a:r>
            <a:r>
              <a:rPr lang="en-US" altLang="zh-CN" dirty="0">
                <a:ea typeface="黑体" pitchFamily="49" charset="-122"/>
              </a:rPr>
              <a:t>(</a:t>
            </a:r>
            <a:r>
              <a:rPr lang="zh-CN" altLang="en-US" dirty="0">
                <a:ea typeface="黑体" pitchFamily="49" charset="-122"/>
              </a:rPr>
              <a:t>下标</a:t>
            </a:r>
            <a:r>
              <a:rPr lang="en-US" altLang="zh-CN" dirty="0">
                <a:ea typeface="黑体" pitchFamily="49" charset="-122"/>
              </a:rPr>
              <a:t>)</a:t>
            </a:r>
            <a:r>
              <a:rPr lang="zh-CN" altLang="en-US" dirty="0">
                <a:ea typeface="黑体" pitchFamily="49" charset="-122"/>
              </a:rPr>
              <a:t>，</a:t>
            </a:r>
            <a:r>
              <a:rPr lang="en-US" altLang="zh-CN" dirty="0">
                <a:ea typeface="黑体" pitchFamily="49" charset="-122"/>
              </a:rPr>
              <a:t>a.pop()</a:t>
            </a:r>
            <a:r>
              <a:rPr lang="zh-CN" altLang="en-US" dirty="0">
                <a:ea typeface="黑体" pitchFamily="49" charset="-122"/>
              </a:rPr>
              <a:t>返回最后一个元素。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280" y="3279771"/>
            <a:ext cx="8713788" cy="3760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2.2-2 </a:t>
            </a:r>
            <a:r>
              <a:rPr lang="zh-CN" altLang="en-US" dirty="0"/>
              <a:t>列表的方法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黑体" pitchFamily="49" charset="-122"/>
              </a:rPr>
              <a:t>index(x)</a:t>
            </a:r>
          </a:p>
          <a:p>
            <a:pPr lvl="1"/>
            <a:r>
              <a:rPr lang="zh-CN" altLang="en-US" dirty="0">
                <a:ea typeface="黑体" pitchFamily="49" charset="-122"/>
              </a:rPr>
              <a:t>返回列表中第一个值为</a:t>
            </a:r>
            <a:r>
              <a:rPr lang="en-US" altLang="zh-CN" dirty="0">
                <a:ea typeface="黑体" pitchFamily="49" charset="-122"/>
              </a:rPr>
              <a:t>x</a:t>
            </a:r>
            <a:r>
              <a:rPr lang="zh-CN" altLang="en-US" dirty="0">
                <a:ea typeface="黑体" pitchFamily="49" charset="-122"/>
              </a:rPr>
              <a:t>的元素索引。如果没有匹配的元素就会返回一个错误</a:t>
            </a:r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6263" y="2779705"/>
            <a:ext cx="8937625" cy="346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2.2-2 </a:t>
            </a:r>
            <a:r>
              <a:rPr lang="zh-CN" altLang="en-US" dirty="0"/>
              <a:t>列表的方法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count(x)</a:t>
            </a:r>
          </a:p>
          <a:p>
            <a:pPr lvl="1"/>
            <a:r>
              <a:rPr lang="zh-CN" altLang="en-US" dirty="0"/>
              <a:t>计算元素</a:t>
            </a:r>
            <a:r>
              <a:rPr lang="en-US" altLang="zh-CN" dirty="0"/>
              <a:t>x</a:t>
            </a:r>
            <a:r>
              <a:rPr lang="zh-CN" altLang="en-US" dirty="0"/>
              <a:t>在列表中出现的次数</a:t>
            </a:r>
          </a:p>
          <a:p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1840" y="2339677"/>
            <a:ext cx="7128792" cy="3576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2.2-2 </a:t>
            </a:r>
            <a:r>
              <a:rPr lang="zh-CN" altLang="en-US" dirty="0"/>
              <a:t>列表的方法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黑体" pitchFamily="49" charset="-122"/>
              </a:rPr>
              <a:t>sort()</a:t>
            </a:r>
          </a:p>
          <a:p>
            <a:pPr lvl="1"/>
            <a:r>
              <a:rPr lang="zh-CN" altLang="en-US" dirty="0">
                <a:ea typeface="黑体" pitchFamily="49" charset="-122"/>
              </a:rPr>
              <a:t>对列表中的元素进行适当的排序。</a:t>
            </a:r>
          </a:p>
          <a:p>
            <a:r>
              <a:rPr lang="en-US" altLang="zh-CN" dirty="0">
                <a:ea typeface="黑体" pitchFamily="49" charset="-122"/>
              </a:rPr>
              <a:t>reverse()</a:t>
            </a:r>
          </a:p>
          <a:p>
            <a:pPr lvl="1"/>
            <a:r>
              <a:rPr lang="zh-CN" altLang="en-US" dirty="0">
                <a:ea typeface="黑体" pitchFamily="49" charset="-122"/>
              </a:rPr>
              <a:t>倒排列表中的元素。</a:t>
            </a:r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824" y="3059757"/>
            <a:ext cx="7092882" cy="298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2.2-3 </a:t>
            </a:r>
            <a:r>
              <a:rPr lang="zh-CN" altLang="en-US" dirty="0"/>
              <a:t>列表的性质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列表是一种序列</a:t>
            </a:r>
          </a:p>
          <a:p>
            <a:r>
              <a:rPr lang="zh-CN" altLang="en-US" dirty="0"/>
              <a:t>列表中元素类型任意，可以嵌套列表</a:t>
            </a:r>
          </a:p>
          <a:p>
            <a:r>
              <a:rPr lang="zh-CN" altLang="en-US" dirty="0"/>
              <a:t>列表是可变的</a:t>
            </a:r>
          </a:p>
          <a:p>
            <a:r>
              <a:rPr lang="zh-CN" altLang="en-US" dirty="0"/>
              <a:t>别名问题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引用一个对象，而</a:t>
            </a:r>
            <a:r>
              <a:rPr lang="en-US" altLang="zh-CN" dirty="0"/>
              <a:t>b=a</a:t>
            </a:r>
            <a:r>
              <a:rPr lang="zh-CN" altLang="en-US" dirty="0"/>
              <a:t>，两个变量会引用同一个变量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594" y="3636961"/>
            <a:ext cx="5256213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字符串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单引号</a:t>
            </a:r>
          </a:p>
          <a:p>
            <a:r>
              <a:rPr lang="zh-CN" altLang="en-US" dirty="0"/>
              <a:t>双引号：功能与单引号一样，如</a:t>
            </a:r>
            <a:r>
              <a:rPr lang="en-US" altLang="zh-CN" dirty="0"/>
              <a:t>’c’</a:t>
            </a:r>
            <a:r>
              <a:rPr lang="zh-CN" altLang="en-US" dirty="0"/>
              <a:t>与</a:t>
            </a:r>
            <a:r>
              <a:rPr lang="en-US" altLang="zh-CN" dirty="0"/>
              <a:t>”c”</a:t>
            </a:r>
            <a:r>
              <a:rPr lang="zh-CN" altLang="en-US" dirty="0"/>
              <a:t>是相同的</a:t>
            </a:r>
          </a:p>
          <a:p>
            <a:r>
              <a:rPr lang="zh-CN" altLang="en-US" dirty="0"/>
              <a:t>三引号</a:t>
            </a:r>
          </a:p>
          <a:p>
            <a:pPr lvl="1"/>
            <a:r>
              <a:rPr lang="zh-CN" altLang="en-US" dirty="0"/>
              <a:t>可以表示多行</a:t>
            </a:r>
          </a:p>
          <a:p>
            <a:endParaRPr lang="zh-CN" altLang="en-US" dirty="0">
              <a:ea typeface="SimSun" pitchFamily="2" charset="-122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594" y="3208333"/>
            <a:ext cx="7200900" cy="207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2.3-1 </a:t>
            </a:r>
            <a:r>
              <a:rPr lang="zh-CN" altLang="en-US" dirty="0"/>
              <a:t>转义字符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SimSun" pitchFamily="2" charset="-122"/>
              </a:rPr>
              <a:t>与</a:t>
            </a:r>
            <a:r>
              <a:rPr lang="en-US" altLang="zh-CN" dirty="0">
                <a:ea typeface="SimSun" pitchFamily="2" charset="-122"/>
              </a:rPr>
              <a:t>C</a:t>
            </a:r>
            <a:r>
              <a:rPr lang="zh-CN" altLang="en-US" dirty="0">
                <a:ea typeface="SimSun" pitchFamily="2" charset="-122"/>
              </a:rPr>
              <a:t>语言类似</a:t>
            </a:r>
          </a:p>
        </p:txBody>
      </p:sp>
      <p:graphicFrame>
        <p:nvGraphicFramePr>
          <p:cNvPr id="4" name="Group 37"/>
          <p:cNvGraphicFramePr/>
          <p:nvPr/>
        </p:nvGraphicFramePr>
        <p:xfrm>
          <a:off x="3182924" y="1065193"/>
          <a:ext cx="4676775" cy="5905501"/>
        </p:xfrm>
        <a:graphic>
          <a:graphicData uri="http://schemas.openxmlformats.org/drawingml/2006/table">
            <a:tbl>
              <a:tblPr/>
              <a:tblGrid>
                <a:gridCol w="2328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转义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意义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\ newline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行连续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\\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反斜线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\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/>
                          <a:ea typeface="黑体" pitchFamily="49" charset="-122"/>
                        </a:rPr>
                        <a:t>’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ZSongTi" pitchFamily="32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单引号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\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/>
                          <a:ea typeface="黑体" pitchFamily="49" charset="-122"/>
                        </a:rPr>
                        <a:t>”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ZSongTi" pitchFamily="32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双引号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\a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响铃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\b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倒退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\f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换页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\n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ZSongTi" pitchFamily="32" charset="0"/>
                          <a:ea typeface="黑体" pitchFamily="49" charset="-122"/>
                        </a:rPr>
                        <a:t>新行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2.3-2 </a:t>
            </a:r>
            <a:r>
              <a:rPr lang="zh-CN" altLang="en-US" dirty="0"/>
              <a:t>字符串基本操作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字符串合并：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”</a:t>
            </a:r>
            <a:r>
              <a:rPr lang="en-US" altLang="zh-CN" dirty="0" err="1"/>
              <a:t>how</a:t>
            </a:r>
            <a:r>
              <a:rPr lang="en-US" altLang="zh-CN" dirty="0" err="1">
                <a:latin typeface="Arial" panose="020B0604020202090204" pitchFamily="34" charset="0"/>
                <a:cs typeface="Arial" panose="020B0604020202090204" pitchFamily="34" charset="0"/>
              </a:rPr>
              <a:t>”</a:t>
            </a:r>
            <a:r>
              <a:rPr lang="en-US" altLang="zh-CN" dirty="0" err="1"/>
              <a:t>+</a:t>
            </a:r>
            <a:r>
              <a:rPr lang="en-US" altLang="zh-CN" dirty="0" err="1">
                <a:latin typeface="Arial" panose="020B0604020202090204" pitchFamily="34" charset="0"/>
                <a:cs typeface="Arial" panose="020B0604020202090204" pitchFamily="34" charset="0"/>
              </a:rPr>
              <a:t>”</a:t>
            </a:r>
            <a:r>
              <a:rPr lang="en-US" altLang="zh-CN" dirty="0" err="1"/>
              <a:t>what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”</a:t>
            </a:r>
            <a:endParaRPr lang="en-US" altLang="zh-CN" dirty="0"/>
          </a:p>
          <a:p>
            <a:r>
              <a:rPr lang="zh-CN" altLang="en-US" dirty="0"/>
              <a:t>字符串重复：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”</a:t>
            </a:r>
            <a:r>
              <a:rPr lang="en-US" altLang="zh-CN" dirty="0"/>
              <a:t>how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”</a:t>
            </a:r>
            <a:r>
              <a:rPr lang="en-US" altLang="zh-CN" dirty="0"/>
              <a:t>*3</a:t>
            </a:r>
          </a:p>
          <a:p>
            <a:r>
              <a:rPr lang="zh-CN" altLang="en-US" dirty="0"/>
              <a:t>索引、切片</a:t>
            </a:r>
            <a:endParaRPr lang="en-US" altLang="zh-CN" dirty="0"/>
          </a:p>
          <a:p>
            <a:pPr lvl="1"/>
            <a:r>
              <a:rPr lang="en-US" altLang="zh-CN" dirty="0"/>
              <a:t>X[I]</a:t>
            </a:r>
          </a:p>
          <a:p>
            <a:pPr lvl="1"/>
            <a:r>
              <a:rPr lang="en-US" altLang="zh-CN" dirty="0"/>
              <a:t>X[I:J]</a:t>
            </a:r>
            <a:endParaRPr lang="zh-CN" altLang="en-US" dirty="0"/>
          </a:p>
          <a:p>
            <a:pPr lvl="1"/>
            <a:r>
              <a:rPr lang="en-US" altLang="zh-CN" dirty="0"/>
              <a:t>X[I:J:K], K</a:t>
            </a:r>
            <a:r>
              <a:rPr lang="zh-CN" altLang="en-US" dirty="0"/>
              <a:t>表示步长</a:t>
            </a:r>
          </a:p>
          <a:p>
            <a:endParaRPr lang="zh-CN" altLang="en-US" dirty="0">
              <a:ea typeface="SimSun" pitchFamily="2" charset="-122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1840" y="3923853"/>
            <a:ext cx="49911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2.3-3 </a:t>
            </a:r>
            <a:r>
              <a:rPr lang="zh-CN" altLang="en-US" dirty="0"/>
              <a:t>字符串转化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数字字符串转化成数字</a:t>
            </a:r>
          </a:p>
          <a:p>
            <a:pPr lvl="1"/>
            <a:r>
              <a:rPr lang="zh-CN" altLang="en-US" dirty="0"/>
              <a:t>情形</a:t>
            </a:r>
            <a:r>
              <a:rPr lang="en-US" altLang="zh-CN" dirty="0"/>
              <a:t>1</a:t>
            </a:r>
            <a:r>
              <a:rPr lang="zh-CN" altLang="en-US" dirty="0"/>
              <a:t>：整数</a:t>
            </a:r>
          </a:p>
          <a:p>
            <a:pPr lvl="1"/>
            <a:r>
              <a:rPr lang="zh-CN" altLang="en-US" dirty="0"/>
              <a:t>情形</a:t>
            </a:r>
            <a:r>
              <a:rPr lang="en-US" altLang="zh-CN" dirty="0"/>
              <a:t>2</a:t>
            </a:r>
            <a:r>
              <a:rPr lang="zh-CN" altLang="en-US" dirty="0"/>
              <a:t>：浮点数</a:t>
            </a:r>
          </a:p>
          <a:p>
            <a:endParaRPr lang="zh-CN" altLang="en-US" dirty="0">
              <a:ea typeface="SimSun" pitchFamily="2" charset="-122"/>
            </a:endParaRP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8474" y="2555701"/>
            <a:ext cx="8856663" cy="418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2925" y="3349451"/>
            <a:ext cx="8923337" cy="2601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2.3-4 </a:t>
            </a:r>
            <a:r>
              <a:rPr lang="zh-CN" altLang="en-US" dirty="0">
                <a:ea typeface="SimSun" pitchFamily="2" charset="-122"/>
              </a:rPr>
              <a:t>字符串格式化</a:t>
            </a:r>
            <a:endParaRPr lang="zh-CN" altLang="en-US" dirty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1.</a:t>
            </a:r>
            <a:r>
              <a:rPr lang="zh-CN" altLang="en-US" dirty="0">
                <a:ea typeface="SimSun" pitchFamily="2" charset="-122"/>
              </a:rPr>
              <a:t>占位符</a:t>
            </a:r>
            <a:r>
              <a:rPr lang="en-US" altLang="zh-CN" dirty="0">
                <a:ea typeface="SimSun" pitchFamily="2" charset="-122"/>
              </a:rPr>
              <a:t>%</a:t>
            </a:r>
            <a:endParaRPr lang="zh-CN" altLang="en-US" dirty="0">
              <a:ea typeface="SimSun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489530" y="611485"/>
          <a:ext cx="5447325" cy="6616558"/>
        </p:xfrm>
        <a:graphic>
          <a:graphicData uri="http://schemas.openxmlformats.org/drawingml/2006/table">
            <a:tbl>
              <a:tblPr/>
              <a:tblGrid>
                <a:gridCol w="1180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891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200" dirty="0">
                          <a:solidFill>
                            <a:srgbClr val="FFC000"/>
                          </a:solidFill>
                          <a:effectLst/>
                        </a:rPr>
                        <a:t> 符号</a:t>
                      </a:r>
                    </a:p>
                  </a:txBody>
                  <a:tcPr marL="11316" marR="11316" marT="11316" marB="11316" anchor="ctr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200" dirty="0">
                          <a:solidFill>
                            <a:srgbClr val="FFC000"/>
                          </a:solidFill>
                          <a:effectLst/>
                        </a:rPr>
                        <a:t>  描述</a:t>
                      </a:r>
                    </a:p>
                  </a:txBody>
                  <a:tcPr marL="11316" marR="11316" marT="11316" marB="11316" anchor="ctr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60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%c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格式化字符及其</a:t>
                      </a:r>
                      <a:r>
                        <a:rPr 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ASCII</a:t>
                      </a:r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码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532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%s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格式化字符串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532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%d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格式化整数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168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%u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格式化无符号整型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168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%o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格式化无符号八进制数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168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%x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格式化无符号十六进制数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168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%X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格式化无符号十六进制数（大写）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511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%f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格式化浮点数字，可指定小数点   后的精度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7168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%e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用科学计数法格式化浮点数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9577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%E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作用同</a:t>
                      </a:r>
                      <a:r>
                        <a:rPr lang="en-US" altLang="zh-CN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%e</a:t>
                      </a:r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，用科学计数法格式化浮点数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532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%g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%f</a:t>
                      </a:r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和</a:t>
                      </a:r>
                      <a:r>
                        <a:rPr lang="en-US" altLang="zh-CN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%</a:t>
                      </a:r>
                      <a:r>
                        <a:rPr 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e</a:t>
                      </a:r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的简写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6550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%G</a:t>
                      </a:r>
                      <a:endParaRPr lang="en-US" sz="220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%f </a:t>
                      </a:r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和 </a:t>
                      </a:r>
                      <a:r>
                        <a:rPr lang="en-US" altLang="zh-CN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%</a:t>
                      </a:r>
                      <a:r>
                        <a:rPr 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E </a:t>
                      </a:r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的简写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7168">
                <a:tc>
                  <a:txBody>
                    <a:bodyPr/>
                    <a:lstStyle/>
                    <a:p>
                      <a:pPr fontAlgn="t"/>
                      <a:r>
                        <a:rPr 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      %p</a:t>
                      </a:r>
                      <a:endParaRPr 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  <a:latin typeface="Arial" panose="020B0604020202090204" pitchFamily="34" charset="0"/>
                          <a:ea typeface="SimSun" pitchFamily="2" charset="-122"/>
                          <a:cs typeface="Arial" panose="020B0604020202090204" pitchFamily="34" charset="0"/>
                        </a:rPr>
                        <a:t>用十六进制数格式化变量的地址</a:t>
                      </a:r>
                      <a:endParaRPr lang="zh-CN" altLang="en-US" sz="2200" dirty="0">
                        <a:effectLst/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18860" marR="18860" marT="26404" marB="26404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0" y="1691605"/>
            <a:ext cx="4262719" cy="5198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2.3-4 </a:t>
            </a:r>
            <a:r>
              <a:rPr lang="zh-CN" altLang="en-US" dirty="0">
                <a:ea typeface="SimSun" pitchFamily="2" charset="-122"/>
              </a:rPr>
              <a:t>字符串格式化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SimSun" pitchFamily="2" charset="-122"/>
              </a:rPr>
              <a:t>1.</a:t>
            </a:r>
            <a:r>
              <a:rPr lang="zh-CN" altLang="en-US" dirty="0">
                <a:ea typeface="SimSun" pitchFamily="2" charset="-122"/>
              </a:rPr>
              <a:t>占位符</a:t>
            </a:r>
            <a:r>
              <a:rPr lang="en-US" altLang="zh-CN" dirty="0">
                <a:ea typeface="SimSun" pitchFamily="2" charset="-122"/>
              </a:rPr>
              <a:t>%</a:t>
            </a:r>
          </a:p>
          <a:p>
            <a:pPr lvl="1"/>
            <a:r>
              <a:rPr lang="zh-CN" altLang="en-US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格式化操作符</a:t>
            </a:r>
            <a:br>
              <a:rPr lang="en-US" altLang="zh-CN" b="0" i="0" dirty="0">
                <a:solidFill>
                  <a:schemeClr val="bg1"/>
                </a:solidFill>
                <a:effectLst/>
                <a:latin typeface="Helvetica Neue" panose="02000503000000020004"/>
              </a:rPr>
            </a:br>
            <a:r>
              <a:rPr lang="zh-CN" altLang="en-US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辅助指令</a:t>
            </a:r>
            <a:endParaRPr lang="zh-CN" altLang="en-US" dirty="0">
              <a:solidFill>
                <a:schemeClr val="bg1"/>
              </a:solidFill>
              <a:ea typeface="SimSun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573456" y="1187549"/>
          <a:ext cx="6219384" cy="5949092"/>
        </p:xfrm>
        <a:graphic>
          <a:graphicData uri="http://schemas.openxmlformats.org/drawingml/2006/table">
            <a:tbl>
              <a:tblPr/>
              <a:tblGrid>
                <a:gridCol w="746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23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200">
                          <a:solidFill>
                            <a:srgbClr val="FFC000"/>
                          </a:solidFill>
                          <a:effectLst/>
                        </a:rPr>
                        <a:t>符号</a:t>
                      </a:r>
                    </a:p>
                  </a:txBody>
                  <a:tcPr marL="12134" marR="12134" marT="12134" marB="12134" anchor="ctr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200" dirty="0">
                          <a:solidFill>
                            <a:srgbClr val="FFC000"/>
                          </a:solidFill>
                          <a:effectLst/>
                        </a:rPr>
                        <a:t>功能</a:t>
                      </a:r>
                    </a:p>
                  </a:txBody>
                  <a:tcPr marL="12134" marR="12134" marT="12134" marB="12134" anchor="ctr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>
                          <a:effectLst/>
                        </a:rPr>
                        <a:t>*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>
                          <a:effectLst/>
                        </a:rPr>
                        <a:t>定义宽度或者小数点精度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86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200">
                          <a:effectLst/>
                        </a:rPr>
                        <a:t>-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>
                          <a:effectLst/>
                        </a:rPr>
                        <a:t>用做左对齐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200">
                          <a:effectLst/>
                        </a:rPr>
                        <a:t>+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>
                          <a:effectLst/>
                        </a:rPr>
                        <a:t>在正数前面显示加号</a:t>
                      </a:r>
                      <a:r>
                        <a:rPr lang="en-US" altLang="zh-CN" sz="2200">
                          <a:effectLst/>
                        </a:rPr>
                        <a:t>( + )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</a:rPr>
                        <a:t>&lt;sp&gt;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>
                          <a:effectLst/>
                        </a:rPr>
                        <a:t>在正数前面显示空格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634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200">
                          <a:effectLst/>
                        </a:rPr>
                        <a:t>#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</a:rPr>
                        <a:t>在八进制数前面显示零</a:t>
                      </a:r>
                      <a:r>
                        <a:rPr lang="en-US" altLang="zh-CN" sz="2200" dirty="0">
                          <a:effectLst/>
                        </a:rPr>
                        <a:t>('0')</a:t>
                      </a:r>
                      <a:r>
                        <a:rPr lang="zh-CN" altLang="en-US" sz="2200" dirty="0">
                          <a:effectLst/>
                        </a:rPr>
                        <a:t>，在十六进制前面显示</a:t>
                      </a:r>
                      <a:r>
                        <a:rPr lang="en-US" altLang="zh-CN" sz="2200" dirty="0">
                          <a:effectLst/>
                        </a:rPr>
                        <a:t>'0x'</a:t>
                      </a:r>
                      <a:r>
                        <a:rPr lang="zh-CN" altLang="en-US" sz="2200" dirty="0">
                          <a:effectLst/>
                        </a:rPr>
                        <a:t>或者</a:t>
                      </a:r>
                      <a:r>
                        <a:rPr lang="en-US" altLang="zh-CN" sz="2200" dirty="0">
                          <a:effectLst/>
                        </a:rPr>
                        <a:t>'0X'(</a:t>
                      </a:r>
                      <a:r>
                        <a:rPr lang="zh-CN" altLang="en-US" sz="2200" dirty="0">
                          <a:effectLst/>
                        </a:rPr>
                        <a:t>取决于用的是</a:t>
                      </a:r>
                      <a:r>
                        <a:rPr lang="en-US" altLang="zh-CN" sz="2200" dirty="0">
                          <a:effectLst/>
                        </a:rPr>
                        <a:t>'x'</a:t>
                      </a:r>
                      <a:r>
                        <a:rPr lang="zh-CN" altLang="en-US" sz="2200" dirty="0">
                          <a:effectLst/>
                        </a:rPr>
                        <a:t>还是</a:t>
                      </a:r>
                      <a:r>
                        <a:rPr lang="en-US" altLang="zh-CN" sz="2200" dirty="0">
                          <a:effectLst/>
                        </a:rPr>
                        <a:t>'X')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200" dirty="0">
                          <a:effectLst/>
                        </a:rPr>
                        <a:t>0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 dirty="0">
                          <a:effectLst/>
                        </a:rPr>
                        <a:t>显示的数字前面填充</a:t>
                      </a:r>
                      <a:r>
                        <a:rPr lang="en-US" altLang="zh-CN" sz="2200" dirty="0">
                          <a:effectLst/>
                        </a:rPr>
                        <a:t>'0'</a:t>
                      </a:r>
                      <a:r>
                        <a:rPr lang="zh-CN" altLang="en-US" sz="2200" dirty="0">
                          <a:effectLst/>
                        </a:rPr>
                        <a:t>而不是默认的空格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200">
                          <a:effectLst/>
                        </a:rPr>
                        <a:t>%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200">
                          <a:effectLst/>
                        </a:rPr>
                        <a:t>'%%'</a:t>
                      </a:r>
                      <a:r>
                        <a:rPr lang="zh-CN" altLang="en-US" sz="2200">
                          <a:effectLst/>
                        </a:rPr>
                        <a:t>输出一个单一的</a:t>
                      </a:r>
                      <a:r>
                        <a:rPr lang="en-US" altLang="zh-CN" sz="2200">
                          <a:effectLst/>
                        </a:rPr>
                        <a:t>'%'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</a:rPr>
                        <a:t>(var)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200">
                          <a:effectLst/>
                        </a:rPr>
                        <a:t>映射变量</a:t>
                      </a:r>
                      <a:r>
                        <a:rPr lang="en-US" altLang="zh-CN" sz="2200">
                          <a:effectLst/>
                        </a:rPr>
                        <a:t>(</a:t>
                      </a:r>
                      <a:r>
                        <a:rPr lang="zh-CN" altLang="en-US" sz="2200">
                          <a:effectLst/>
                        </a:rPr>
                        <a:t>字典参数</a:t>
                      </a:r>
                      <a:r>
                        <a:rPr lang="en-US" altLang="zh-CN" sz="2200">
                          <a:effectLst/>
                        </a:rPr>
                        <a:t>)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88473">
                <a:tc>
                  <a:txBody>
                    <a:bodyPr/>
                    <a:lstStyle/>
                    <a:p>
                      <a:pPr fontAlgn="t"/>
                      <a:r>
                        <a:rPr lang="en-US" sz="2200" dirty="0" err="1">
                          <a:effectLst/>
                        </a:rPr>
                        <a:t>m.n.</a:t>
                      </a:r>
                      <a:endParaRPr lang="en-US" sz="2200" dirty="0">
                        <a:effectLst/>
                      </a:endParaRP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200" dirty="0">
                          <a:effectLst/>
                        </a:rPr>
                        <a:t>m </a:t>
                      </a:r>
                      <a:r>
                        <a:rPr lang="zh-CN" altLang="en-US" sz="2200" dirty="0">
                          <a:effectLst/>
                        </a:rPr>
                        <a:t>是显示的最小总宽度</a:t>
                      </a:r>
                      <a:r>
                        <a:rPr lang="en-US" altLang="zh-CN" sz="2200" dirty="0">
                          <a:effectLst/>
                        </a:rPr>
                        <a:t>,n </a:t>
                      </a:r>
                      <a:r>
                        <a:rPr lang="zh-CN" altLang="en-US" sz="2200" dirty="0">
                          <a:effectLst/>
                        </a:rPr>
                        <a:t>是小数点后的位数</a:t>
                      </a:r>
                      <a:r>
                        <a:rPr lang="en-US" altLang="zh-CN" sz="2200" dirty="0">
                          <a:effectLst/>
                        </a:rPr>
                        <a:t>(</a:t>
                      </a:r>
                      <a:r>
                        <a:rPr lang="zh-CN" altLang="en-US" sz="2200" dirty="0">
                          <a:effectLst/>
                        </a:rPr>
                        <a:t>如果可用的话</a:t>
                      </a:r>
                      <a:r>
                        <a:rPr lang="en-US" altLang="zh-CN" sz="2200" dirty="0">
                          <a:effectLst/>
                        </a:rPr>
                        <a:t>)</a:t>
                      </a:r>
                    </a:p>
                  </a:txBody>
                  <a:tcPr marL="20223" marR="20223" marT="28312" marB="28312" anchor="ctr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2.3-4 </a:t>
            </a:r>
            <a:r>
              <a:rPr lang="zh-CN" altLang="en-US" dirty="0">
                <a:ea typeface="SimSun" pitchFamily="2" charset="-122"/>
              </a:rPr>
              <a:t>字符串格式化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8130" y="899517"/>
            <a:ext cx="9504363" cy="6357937"/>
          </a:xfrm>
        </p:spPr>
        <p:txBody>
          <a:bodyPr/>
          <a:lstStyle/>
          <a:p>
            <a:r>
              <a:rPr lang="en-US" altLang="zh-CN" dirty="0"/>
              <a:t>2. format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 latinLnBrk="1"/>
            <a:r>
              <a:rPr lang="en-US" altLang="zh-CN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Python2.6 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开始，新增函数 </a:t>
            </a:r>
            <a:r>
              <a:rPr lang="en-US" altLang="zh-CN" b="1" i="0" dirty="0" err="1">
                <a:solidFill>
                  <a:schemeClr val="bg1"/>
                </a:solidFill>
                <a:effectLst/>
                <a:latin typeface="SFMono-Regular"/>
              </a:rPr>
              <a:t>str.format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SFMono-Regular"/>
              </a:rPr>
              <a:t>()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，增强格式化功能。</a:t>
            </a:r>
          </a:p>
          <a:p>
            <a:pPr lvl="1" latinLnBrk="1"/>
            <a:r>
              <a:rPr lang="zh-CN" altLang="en-US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基本语法是通过 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SFMono-Regular"/>
              </a:rPr>
              <a:t>{}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 和 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SFMono-Regular"/>
              </a:rPr>
              <a:t>: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 panose="02000503000000020004"/>
              </a:rPr>
              <a:t> 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来代替以前的 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SFMono-Regular"/>
              </a:rPr>
              <a:t>%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 。</a:t>
            </a:r>
          </a:p>
          <a:p>
            <a:pPr lvl="1"/>
            <a:r>
              <a:rPr lang="en-US" altLang="zh-CN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format 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函数可以接受任意多个参数，位置可以不按顺序。</a:t>
            </a:r>
            <a:endParaRPr lang="en-US" altLang="zh-CN" b="0" i="0" dirty="0">
              <a:solidFill>
                <a:schemeClr val="bg1"/>
              </a:solidFill>
              <a:effectLst/>
              <a:latin typeface="Helvetica Neue" panose="02000503000000020004"/>
            </a:endParaRPr>
          </a:p>
          <a:p>
            <a:pPr lvl="1"/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48" y="2771725"/>
            <a:ext cx="7632848" cy="23762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06" y="2845710"/>
            <a:ext cx="7652746" cy="46045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2.3-4 </a:t>
            </a:r>
            <a:r>
              <a:rPr lang="zh-CN" altLang="en-US" dirty="0">
                <a:ea typeface="SimSun" pitchFamily="2" charset="-122"/>
              </a:rPr>
              <a:t>字符串格式化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 format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字符串的参数使用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{NUM}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进行表示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, 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0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表示第一个参数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, 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1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表示第二个参数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, 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以后顺次递加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;</a:t>
            </a:r>
            <a:endParaRPr lang="zh-CN" altLang="en-US" sz="2000" b="0" i="0" dirty="0">
              <a:solidFill>
                <a:schemeClr val="bg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使用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“</a:t>
            </a:r>
            <a:r>
              <a:rPr lang="en-US" altLang="zh-CN" sz="2000" i="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: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”, 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指定代表元素需要的操作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, 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如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“:.3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”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有效数字三位（</a:t>
            </a:r>
            <a:r>
              <a:rPr lang="zh-CN" altLang="en-US" sz="2000" b="0" i="0" dirty="0">
                <a:solidFill>
                  <a:srgbClr val="FFFF00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并非小数点后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三位）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, "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:8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"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占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8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个字符空间等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;</a:t>
            </a:r>
            <a:endParaRPr lang="zh-CN" altLang="en-US" sz="2000" b="0" i="0" dirty="0">
              <a:solidFill>
                <a:schemeClr val="bg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数字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(0, 1, ...)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即代表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format()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里面的元素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, 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所以可以使用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“</a:t>
            </a:r>
            <a:r>
              <a:rPr lang="en-US" altLang="zh-CN" sz="2000" b="0" i="0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.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”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调用</a:t>
            </a:r>
            <a:r>
              <a:rPr lang="zh-CN" altLang="en-US" sz="2000" b="0" i="0" dirty="0">
                <a:solidFill>
                  <a:srgbClr val="FFC000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该元素的方法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Arial" panose="020B0604020202090204" pitchFamily="34" charset="0"/>
                <a:ea typeface="SimSun" pitchFamily="2" charset="-122"/>
                <a:cs typeface="Arial" panose="020B0604020202090204" pitchFamily="34" charset="0"/>
              </a:rPr>
              <a:t>;</a:t>
            </a:r>
            <a:endParaRPr lang="zh-CN" altLang="en-US" sz="2000" b="0" i="0" dirty="0">
              <a:solidFill>
                <a:schemeClr val="bg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lvl="1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56" y="3131765"/>
            <a:ext cx="8280796" cy="4388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2.3-4 </a:t>
            </a:r>
            <a:r>
              <a:rPr lang="zh-CN" altLang="en-US" dirty="0">
                <a:ea typeface="SimSun" pitchFamily="2" charset="-122"/>
              </a:rPr>
              <a:t>字符串格式化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 err="1">
                <a:solidFill>
                  <a:schemeClr val="bg1"/>
                </a:solidFill>
                <a:effectLst/>
                <a:latin typeface="Helvetica Neue" panose="02000503000000020004"/>
              </a:rPr>
              <a:t>str.format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() </a:t>
            </a:r>
            <a:r>
              <a:rPr lang="zh-CN" altLang="en-US" b="0" i="0" dirty="0">
                <a:solidFill>
                  <a:srgbClr val="FFC000"/>
                </a:solidFill>
                <a:effectLst/>
                <a:latin typeface="Helvetica Neue" panose="02000503000000020004"/>
              </a:rPr>
              <a:t>格式化数字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的多种方法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内容占位符 3"/>
          <p:cNvGraphicFramePr/>
          <p:nvPr/>
        </p:nvGraphicFramePr>
        <p:xfrm>
          <a:off x="215778" y="916218"/>
          <a:ext cx="9721078" cy="6287132"/>
        </p:xfrm>
        <a:graphic>
          <a:graphicData uri="http://schemas.openxmlformats.org/drawingml/2006/table">
            <a:tbl>
              <a:tblPr/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6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>
                          <a:solidFill>
                            <a:srgbClr val="FFC000"/>
                          </a:solidFill>
                          <a:effectLst/>
                        </a:rPr>
                        <a:t>数字</a:t>
                      </a:r>
                    </a:p>
                  </a:txBody>
                  <a:tcPr marL="5660" marR="5660" marT="5660" marB="5660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>
                          <a:solidFill>
                            <a:srgbClr val="FFC000"/>
                          </a:solidFill>
                          <a:effectLst/>
                        </a:rPr>
                        <a:t>格式</a:t>
                      </a:r>
                    </a:p>
                  </a:txBody>
                  <a:tcPr marL="5660" marR="5660" marT="5660" marB="5660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>
                          <a:solidFill>
                            <a:srgbClr val="FFC000"/>
                          </a:solidFill>
                          <a:effectLst/>
                        </a:rPr>
                        <a:t>输出</a:t>
                      </a:r>
                    </a:p>
                  </a:txBody>
                  <a:tcPr marL="5660" marR="5660" marT="5660" marB="5660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>
                          <a:solidFill>
                            <a:srgbClr val="FFC000"/>
                          </a:solidFill>
                          <a:effectLst/>
                        </a:rPr>
                        <a:t>描述</a:t>
                      </a:r>
                    </a:p>
                  </a:txBody>
                  <a:tcPr marL="5660" marR="5660" marT="5660" marB="5660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9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3.1415926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{:.2f}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3.14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保留小数点后两位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9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3.1415926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{:+.2f}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+3.14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带符号保留小数点后两位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-1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{:+.2f}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-1.00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带符号保留小数点后两位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dirty="0">
                          <a:effectLst/>
                        </a:rPr>
                        <a:t>2.71828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{:.0f}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3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不带小数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dirty="0">
                          <a:effectLst/>
                        </a:rPr>
                        <a:t>5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{:0&gt;2d}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05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数字补零 </a:t>
                      </a:r>
                      <a:r>
                        <a:rPr lang="en-US" altLang="zh-CN" sz="1600">
                          <a:effectLst/>
                        </a:rPr>
                        <a:t>(</a:t>
                      </a:r>
                      <a:r>
                        <a:rPr lang="zh-CN" altLang="en-US" sz="1600">
                          <a:effectLst/>
                        </a:rPr>
                        <a:t>填充左边</a:t>
                      </a:r>
                      <a:r>
                        <a:rPr lang="en-US" altLang="zh-CN" sz="1600">
                          <a:effectLst/>
                        </a:rPr>
                        <a:t>, </a:t>
                      </a:r>
                      <a:r>
                        <a:rPr lang="zh-CN" altLang="en-US" sz="1600">
                          <a:effectLst/>
                        </a:rPr>
                        <a:t>宽度为</a:t>
                      </a:r>
                      <a:r>
                        <a:rPr lang="en-US" altLang="zh-CN" sz="1600">
                          <a:effectLst/>
                        </a:rPr>
                        <a:t>2)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42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5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{:x&lt;4d}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5xxx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数字补</a:t>
                      </a:r>
                      <a:r>
                        <a:rPr lang="en-US" altLang="zh-CN" sz="1600">
                          <a:effectLst/>
                        </a:rPr>
                        <a:t>x (</a:t>
                      </a:r>
                      <a:r>
                        <a:rPr lang="zh-CN" altLang="en-US" sz="1600">
                          <a:effectLst/>
                        </a:rPr>
                        <a:t>填充右边</a:t>
                      </a:r>
                      <a:r>
                        <a:rPr lang="en-US" altLang="zh-CN" sz="1600">
                          <a:effectLst/>
                        </a:rPr>
                        <a:t>, </a:t>
                      </a:r>
                      <a:r>
                        <a:rPr lang="zh-CN" altLang="en-US" sz="1600">
                          <a:effectLst/>
                        </a:rPr>
                        <a:t>宽度为</a:t>
                      </a:r>
                      <a:r>
                        <a:rPr lang="en-US" altLang="zh-CN" sz="1600">
                          <a:effectLst/>
                        </a:rPr>
                        <a:t>4)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42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10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{:x&lt;4d}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10xx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数字补</a:t>
                      </a:r>
                      <a:r>
                        <a:rPr lang="en-US" altLang="zh-CN" sz="1600">
                          <a:effectLst/>
                        </a:rPr>
                        <a:t>x (</a:t>
                      </a:r>
                      <a:r>
                        <a:rPr lang="zh-CN" altLang="en-US" sz="1600">
                          <a:effectLst/>
                        </a:rPr>
                        <a:t>填充右边</a:t>
                      </a:r>
                      <a:r>
                        <a:rPr lang="en-US" altLang="zh-CN" sz="1600">
                          <a:effectLst/>
                        </a:rPr>
                        <a:t>, </a:t>
                      </a:r>
                      <a:r>
                        <a:rPr lang="zh-CN" altLang="en-US" sz="1600">
                          <a:effectLst/>
                        </a:rPr>
                        <a:t>宽度为</a:t>
                      </a:r>
                      <a:r>
                        <a:rPr lang="en-US" altLang="zh-CN" sz="1600">
                          <a:effectLst/>
                        </a:rPr>
                        <a:t>4)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1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1000000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{:,}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1,000,000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以逗号分隔的数字格式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75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0.25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{:.2%}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25.00%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百分比格式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82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1000000000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{:.2e}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1.00e+09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指数记法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42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13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{:&gt;10d}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        </a:t>
                      </a:r>
                      <a:r>
                        <a:rPr lang="en-US" altLang="zh-CN" sz="1600">
                          <a:effectLst/>
                        </a:rPr>
                        <a:t>13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右对齐 </a:t>
                      </a:r>
                      <a:r>
                        <a:rPr lang="en-US" altLang="zh-CN" sz="1600">
                          <a:effectLst/>
                        </a:rPr>
                        <a:t>(</a:t>
                      </a:r>
                      <a:r>
                        <a:rPr lang="zh-CN" altLang="en-US" sz="1600">
                          <a:effectLst/>
                        </a:rPr>
                        <a:t>默认</a:t>
                      </a:r>
                      <a:r>
                        <a:rPr lang="en-US" altLang="zh-CN" sz="1600">
                          <a:effectLst/>
                        </a:rPr>
                        <a:t>, </a:t>
                      </a:r>
                      <a:r>
                        <a:rPr lang="zh-CN" altLang="en-US" sz="1600">
                          <a:effectLst/>
                        </a:rPr>
                        <a:t>宽度为</a:t>
                      </a:r>
                      <a:r>
                        <a:rPr lang="en-US" altLang="zh-CN" sz="1600">
                          <a:effectLst/>
                        </a:rPr>
                        <a:t>10)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75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13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{:&lt;10d}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13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左对齐 </a:t>
                      </a:r>
                      <a:r>
                        <a:rPr lang="en-US" altLang="zh-CN" sz="1600">
                          <a:effectLst/>
                        </a:rPr>
                        <a:t>(</a:t>
                      </a:r>
                      <a:r>
                        <a:rPr lang="zh-CN" altLang="en-US" sz="1600">
                          <a:effectLst/>
                        </a:rPr>
                        <a:t>宽度为</a:t>
                      </a:r>
                      <a:r>
                        <a:rPr lang="en-US" altLang="zh-CN" sz="1600">
                          <a:effectLst/>
                        </a:rPr>
                        <a:t>10)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75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13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{:^10d}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    </a:t>
                      </a:r>
                      <a:r>
                        <a:rPr lang="en-US" altLang="zh-CN" sz="1600">
                          <a:effectLst/>
                        </a:rPr>
                        <a:t>13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中间对齐 </a:t>
                      </a:r>
                      <a:r>
                        <a:rPr lang="en-US" altLang="zh-CN" sz="1600">
                          <a:effectLst/>
                        </a:rPr>
                        <a:t>(</a:t>
                      </a:r>
                      <a:r>
                        <a:rPr lang="zh-CN" altLang="en-US" sz="1600">
                          <a:effectLst/>
                        </a:rPr>
                        <a:t>宽度为</a:t>
                      </a:r>
                      <a:r>
                        <a:rPr lang="en-US" altLang="zh-CN" sz="1600">
                          <a:effectLst/>
                        </a:rPr>
                        <a:t>10)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0449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dirty="0">
                          <a:effectLst/>
                        </a:rPr>
                        <a:t>11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8800"/>
                          </a:solidFill>
                          <a:effectLst/>
                        </a:rPr>
                        <a:t>'{:b}'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.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format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rgbClr val="006666"/>
                          </a:solidFill>
                          <a:effectLst/>
                        </a:rPr>
                        <a:t>11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)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8800"/>
                          </a:solidFill>
                          <a:effectLst/>
                        </a:rPr>
                        <a:t>'{:d}'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.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format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rgbClr val="006666"/>
                          </a:solidFill>
                          <a:effectLst/>
                        </a:rPr>
                        <a:t>11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)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8800"/>
                          </a:solidFill>
                          <a:effectLst/>
                        </a:rPr>
                        <a:t>'{:o}'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.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format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rgbClr val="006666"/>
                          </a:solidFill>
                          <a:effectLst/>
                        </a:rPr>
                        <a:t>11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)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8800"/>
                          </a:solidFill>
                          <a:effectLst/>
                        </a:rPr>
                        <a:t>'{:x}'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.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format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rgbClr val="006666"/>
                          </a:solidFill>
                          <a:effectLst/>
                        </a:rPr>
                        <a:t>11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)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8800"/>
                          </a:solidFill>
                          <a:effectLst/>
                        </a:rPr>
                        <a:t>'{:#x}'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.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format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rgbClr val="006666"/>
                          </a:solidFill>
                          <a:effectLst/>
                        </a:rPr>
                        <a:t>11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)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8800"/>
                          </a:solidFill>
                          <a:effectLst/>
                        </a:rPr>
                        <a:t>'{:#X}'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.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format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rgbClr val="006666"/>
                          </a:solidFill>
                          <a:effectLst/>
                        </a:rPr>
                        <a:t>11</a:t>
                      </a:r>
                      <a:r>
                        <a:rPr lang="en-US" sz="1600" dirty="0">
                          <a:solidFill>
                            <a:srgbClr val="666600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effectLst/>
                      </a:endParaRP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6666"/>
                          </a:solidFill>
                          <a:effectLst/>
                        </a:rPr>
                        <a:t>1011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06666"/>
                          </a:solidFill>
                          <a:effectLst/>
                        </a:rPr>
                        <a:t>11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06666"/>
                          </a:solidFill>
                          <a:effectLst/>
                        </a:rPr>
                        <a:t>13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b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06666"/>
                          </a:solidFill>
                          <a:effectLst/>
                        </a:rPr>
                        <a:t>0xb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600" dirty="0" err="1">
                          <a:solidFill>
                            <a:srgbClr val="006666"/>
                          </a:solidFill>
                          <a:effectLst/>
                        </a:rPr>
                        <a:t>0XB</a:t>
                      </a:r>
                      <a:endParaRPr lang="en-US" sz="1600" dirty="0">
                        <a:effectLst/>
                      </a:endParaRP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进制</a:t>
                      </a:r>
                    </a:p>
                  </a:txBody>
                  <a:tcPr marL="9433" marR="9433" marT="13207" marB="13207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2.3-5 </a:t>
            </a:r>
            <a:r>
              <a:rPr lang="zh-CN" altLang="en-US" dirty="0"/>
              <a:t>字符串的方法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1"/>
                </a:solidFill>
                <a:latin typeface="Arial" panose="020B0604020202090204" pitchFamily="34" charset="0"/>
              </a:rPr>
              <a:t>字母大小写变换</a:t>
            </a:r>
          </a:p>
          <a:p>
            <a:pPr lvl="1"/>
            <a:r>
              <a:rPr lang="en-US" altLang="zh-CN" sz="2200" dirty="0">
                <a:solidFill>
                  <a:schemeClr val="bg1"/>
                </a:solidFill>
                <a:latin typeface="Arial" panose="020B0604020202090204" pitchFamily="34" charset="0"/>
              </a:rPr>
              <a:t>capitalize()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90204" pitchFamily="34" charset="0"/>
              </a:rPr>
              <a:t>：将首字母大写，其余均为小写</a:t>
            </a:r>
          </a:p>
          <a:p>
            <a:pPr lvl="1"/>
            <a:r>
              <a:rPr lang="en-US" altLang="zh-CN" sz="2200" dirty="0">
                <a:solidFill>
                  <a:schemeClr val="bg1"/>
                </a:solidFill>
                <a:latin typeface="Arial" panose="020B0604020202090204" pitchFamily="34" charset="0"/>
              </a:rPr>
              <a:t>title():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90204" pitchFamily="34" charset="0"/>
              </a:rPr>
              <a:t>将单词首字母大写，其余均为小写</a:t>
            </a:r>
          </a:p>
          <a:p>
            <a:pPr lvl="1"/>
            <a:r>
              <a:rPr lang="en-US" altLang="zh-CN" sz="2200" dirty="0">
                <a:solidFill>
                  <a:srgbClr val="FFC000"/>
                </a:solidFill>
                <a:latin typeface="Arial" panose="020B0604020202090204" pitchFamily="34" charset="0"/>
              </a:rPr>
              <a:t>lower()</a:t>
            </a:r>
            <a:r>
              <a:rPr lang="en-US" altLang="zh-CN" sz="2200" dirty="0">
                <a:solidFill>
                  <a:schemeClr val="bg1"/>
                </a:solidFill>
                <a:latin typeface="Arial" panose="020B0604020202090204" pitchFamily="34" charset="0"/>
              </a:rPr>
              <a:t>: 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90204" pitchFamily="34" charset="0"/>
              </a:rPr>
              <a:t>所有字母变为小写</a:t>
            </a:r>
          </a:p>
          <a:p>
            <a:pPr lvl="1"/>
            <a:r>
              <a:rPr lang="en-US" altLang="zh-CN" sz="2200" dirty="0">
                <a:solidFill>
                  <a:srgbClr val="FFC000"/>
                </a:solidFill>
                <a:latin typeface="Arial" panose="020B0604020202090204" pitchFamily="34" charset="0"/>
              </a:rPr>
              <a:t>upper()</a:t>
            </a:r>
            <a:r>
              <a:rPr lang="en-US" altLang="zh-CN" sz="2200" dirty="0">
                <a:solidFill>
                  <a:schemeClr val="bg1"/>
                </a:solidFill>
                <a:latin typeface="Arial" panose="020B0604020202090204" pitchFamily="34" charset="0"/>
              </a:rPr>
              <a:t>: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90204" pitchFamily="34" charset="0"/>
              </a:rPr>
              <a:t>所有字母变为大写</a:t>
            </a:r>
          </a:p>
          <a:p>
            <a:pPr lvl="1"/>
            <a:r>
              <a:rPr lang="en-US" altLang="zh-CN" sz="2200" dirty="0" err="1">
                <a:solidFill>
                  <a:schemeClr val="bg1"/>
                </a:solidFill>
                <a:latin typeface="Arial" panose="020B0604020202090204" pitchFamily="34" charset="0"/>
              </a:rPr>
              <a:t>swapcase</a:t>
            </a:r>
            <a:r>
              <a:rPr lang="en-US" altLang="zh-CN" sz="2200" dirty="0">
                <a:solidFill>
                  <a:schemeClr val="bg1"/>
                </a:solidFill>
                <a:latin typeface="Arial" panose="020B0604020202090204" pitchFamily="34" charset="0"/>
              </a:rPr>
              <a:t>(): </a:t>
            </a:r>
            <a:r>
              <a:rPr lang="zh-CN" altLang="en-US" sz="2200" dirty="0">
                <a:solidFill>
                  <a:schemeClr val="bg1"/>
                </a:solidFill>
                <a:latin typeface="Arial" panose="020B0604020202090204" pitchFamily="34" charset="0"/>
              </a:rPr>
              <a:t>大小写互换</a:t>
            </a:r>
          </a:p>
          <a:p>
            <a:pPr lvl="1"/>
            <a:endParaRPr lang="zh-CN" altLang="en-US" dirty="0">
              <a:solidFill>
                <a:schemeClr val="bg1"/>
              </a:solidFill>
              <a:latin typeface="Arial" panose="020B0604020202090204" pitchFamily="34" charset="0"/>
            </a:endParaRPr>
          </a:p>
          <a:p>
            <a:pPr>
              <a:buNone/>
            </a:pPr>
            <a:endParaRPr lang="zh-CN" altLang="en-US" sz="2800" dirty="0">
              <a:solidFill>
                <a:schemeClr val="bg1"/>
              </a:solidFill>
              <a:latin typeface="Arial" panose="020B0604020202090204" pitchFamily="34" charset="0"/>
            </a:endParaRPr>
          </a:p>
          <a:p>
            <a:endParaRPr lang="zh-CN" altLang="en-US" sz="2800" dirty="0">
              <a:solidFill>
                <a:schemeClr val="bg1"/>
              </a:solidFill>
              <a:latin typeface="Arial" panose="020B0604020202090204" pitchFamily="34" charset="0"/>
            </a:endParaRPr>
          </a:p>
          <a:p>
            <a:endParaRPr lang="zh-CN" alt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0152" y="3265372"/>
            <a:ext cx="6330731" cy="4049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2.3-5 </a:t>
            </a:r>
            <a:r>
              <a:rPr lang="zh-CN" altLang="en-US" dirty="0"/>
              <a:t>字符串的方法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bg1"/>
                </a:solidFill>
                <a:latin typeface="Arial" panose="020B0604020202090204" pitchFamily="34" charset="0"/>
              </a:rPr>
              <a:t>字符串对齐填充</a:t>
            </a:r>
          </a:p>
          <a:p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824" y="1547589"/>
            <a:ext cx="7523652" cy="5658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2.3-5 </a:t>
            </a:r>
            <a:r>
              <a:rPr lang="zh-CN" altLang="en-US" dirty="0"/>
              <a:t>字符串的方法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分割与组合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split</a:t>
            </a:r>
            <a:r>
              <a:rPr lang="en-US" altLang="zh-CN" dirty="0"/>
              <a:t>([sep,[</a:t>
            </a:r>
            <a:r>
              <a:rPr lang="en-US" altLang="zh-CN" dirty="0" err="1"/>
              <a:t>maxsplit</a:t>
            </a:r>
            <a:r>
              <a:rPr lang="en-US" altLang="zh-CN" dirty="0"/>
              <a:t>]]):</a:t>
            </a:r>
            <a:r>
              <a:rPr lang="zh-CN" altLang="en-US" dirty="0"/>
              <a:t>以</a:t>
            </a:r>
            <a:r>
              <a:rPr lang="en-US" altLang="zh-CN" dirty="0"/>
              <a:t>sep</a:t>
            </a:r>
            <a:r>
              <a:rPr lang="zh-CN" altLang="en-US" dirty="0"/>
              <a:t>为分隔符，分割成</a:t>
            </a:r>
            <a:r>
              <a:rPr lang="en-US" altLang="zh-CN" dirty="0"/>
              <a:t>list</a:t>
            </a:r>
            <a:r>
              <a:rPr lang="zh-CN" altLang="en-US" dirty="0"/>
              <a:t>，</a:t>
            </a:r>
            <a:r>
              <a:rPr lang="en-US" altLang="zh-CN" dirty="0" err="1"/>
              <a:t>maxsplit</a:t>
            </a:r>
            <a:r>
              <a:rPr lang="zh-CN" altLang="en-US" dirty="0"/>
              <a:t>表示分割次数，从左开始</a:t>
            </a:r>
          </a:p>
          <a:p>
            <a:pPr lvl="1"/>
            <a:r>
              <a:rPr lang="en-US" altLang="zh-CN" dirty="0" err="1"/>
              <a:t>rsplit</a:t>
            </a:r>
            <a:r>
              <a:rPr lang="en-US" altLang="zh-CN" dirty="0"/>
              <a:t>([sep,[</a:t>
            </a:r>
            <a:r>
              <a:rPr lang="en-US" altLang="zh-CN" dirty="0" err="1"/>
              <a:t>maxsplit</a:t>
            </a:r>
            <a:r>
              <a:rPr lang="en-US" altLang="zh-CN" dirty="0"/>
              <a:t>]]):</a:t>
            </a:r>
            <a:r>
              <a:rPr lang="zh-CN" altLang="en-US" dirty="0"/>
              <a:t>同上，但分割从右开始</a:t>
            </a:r>
          </a:p>
          <a:p>
            <a:pPr lvl="1"/>
            <a:r>
              <a:rPr lang="en-US" altLang="zh-CN" dirty="0" err="1"/>
              <a:t>splitlines</a:t>
            </a:r>
            <a:r>
              <a:rPr lang="en-US" altLang="zh-CN" dirty="0"/>
              <a:t>([</a:t>
            </a:r>
            <a:r>
              <a:rPr lang="en-US" altLang="zh-CN" dirty="0" err="1"/>
              <a:t>keepends</a:t>
            </a:r>
            <a:r>
              <a:rPr lang="en-US" altLang="zh-CN" dirty="0"/>
              <a:t>]):</a:t>
            </a:r>
            <a:r>
              <a:rPr lang="zh-CN" altLang="en-US" dirty="0"/>
              <a:t>以行分隔符分割成</a:t>
            </a:r>
            <a:r>
              <a:rPr lang="en-US" altLang="zh-CN" dirty="0"/>
              <a:t>list</a:t>
            </a:r>
            <a:r>
              <a:rPr lang="zh-CN" altLang="en-US" dirty="0"/>
              <a:t>，</a:t>
            </a:r>
            <a:r>
              <a:rPr lang="en-US" altLang="zh-CN" dirty="0" err="1"/>
              <a:t>keepends</a:t>
            </a:r>
            <a:r>
              <a:rPr lang="zh-CN" altLang="en-US" dirty="0"/>
              <a:t>取</a:t>
            </a:r>
            <a:r>
              <a:rPr lang="en-US" altLang="zh-CN" dirty="0" err="1"/>
              <a:t>bool</a:t>
            </a:r>
            <a:r>
              <a:rPr lang="zh-CN" altLang="en-US" dirty="0"/>
              <a:t>值，如果为真，每行分隔符会保留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join</a:t>
            </a:r>
            <a:r>
              <a:rPr lang="en-US" altLang="zh-CN" dirty="0"/>
              <a:t>(</a:t>
            </a:r>
            <a:r>
              <a:rPr lang="en-US" altLang="zh-CN" dirty="0" err="1"/>
              <a:t>seq</a:t>
            </a:r>
            <a:r>
              <a:rPr lang="en-US" altLang="zh-CN" dirty="0"/>
              <a:t>): </a:t>
            </a:r>
            <a:r>
              <a:rPr lang="zh-CN" altLang="en-US" dirty="0"/>
              <a:t>把</a:t>
            </a:r>
            <a:r>
              <a:rPr lang="en-US" altLang="zh-CN" dirty="0" err="1"/>
              <a:t>seq</a:t>
            </a:r>
            <a:r>
              <a:rPr lang="zh-CN" altLang="en-US" dirty="0"/>
              <a:t>中元素串接成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28144" y="803722"/>
            <a:ext cx="6420619" cy="6476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2.3-5 </a:t>
            </a:r>
            <a:r>
              <a:rPr lang="zh-CN" altLang="en-US" dirty="0"/>
              <a:t>字符串的方法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find</a:t>
            </a:r>
            <a:r>
              <a:rPr lang="en-US" altLang="zh-CN" dirty="0"/>
              <a:t>(</a:t>
            </a:r>
            <a:r>
              <a:rPr lang="en-US" altLang="zh-CN" dirty="0" err="1"/>
              <a:t>substr</a:t>
            </a:r>
            <a:r>
              <a:rPr lang="en-US" altLang="zh-CN" dirty="0"/>
              <a:t>, [start, [end]]) </a:t>
            </a:r>
            <a:r>
              <a:rPr lang="zh-CN" altLang="en-US" dirty="0"/>
              <a:t>：返回字符串中出现</a:t>
            </a:r>
            <a:r>
              <a:rPr lang="en-US" altLang="zh-CN" dirty="0" err="1"/>
              <a:t>substr</a:t>
            </a:r>
            <a:r>
              <a:rPr lang="zh-CN" altLang="en-US" dirty="0"/>
              <a:t>的第一个字母的下标 ，没有</a:t>
            </a:r>
            <a:r>
              <a:rPr lang="en-US" altLang="zh-CN" dirty="0" err="1"/>
              <a:t>substr</a:t>
            </a:r>
            <a:r>
              <a:rPr lang="zh-CN" altLang="en-US" dirty="0"/>
              <a:t>则返回</a:t>
            </a:r>
            <a:r>
              <a:rPr lang="en-US" altLang="zh-CN" dirty="0"/>
              <a:t>-1 </a:t>
            </a:r>
            <a:r>
              <a:rPr lang="zh-CN" altLang="en-US" dirty="0"/>
              <a:t>，</a:t>
            </a:r>
            <a:r>
              <a:rPr lang="en-US" altLang="zh-CN" dirty="0"/>
              <a:t>start</a:t>
            </a:r>
            <a:r>
              <a:rPr lang="zh-CN" altLang="en-US" dirty="0"/>
              <a:t>和</a:t>
            </a:r>
            <a:r>
              <a:rPr lang="en-US" altLang="zh-CN" dirty="0"/>
              <a:t>end</a:t>
            </a:r>
            <a:r>
              <a:rPr lang="zh-CN" altLang="en-US" dirty="0"/>
              <a:t>作用就相当于在</a:t>
            </a:r>
            <a:r>
              <a:rPr lang="en-US" altLang="zh-CN" dirty="0"/>
              <a:t> [</a:t>
            </a:r>
            <a:r>
              <a:rPr lang="en-US" altLang="zh-CN" dirty="0" err="1"/>
              <a:t>start:end</a:t>
            </a:r>
            <a:r>
              <a:rPr lang="en-US" altLang="zh-CN" dirty="0"/>
              <a:t>]</a:t>
            </a:r>
            <a:r>
              <a:rPr lang="zh-CN" altLang="en-US" dirty="0"/>
              <a:t>中搜索 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index</a:t>
            </a:r>
            <a:r>
              <a:rPr lang="en-US" altLang="zh-CN" dirty="0"/>
              <a:t>(</a:t>
            </a:r>
            <a:r>
              <a:rPr lang="en-US" altLang="zh-CN" dirty="0" err="1"/>
              <a:t>substr</a:t>
            </a:r>
            <a:r>
              <a:rPr lang="en-US" altLang="zh-CN" dirty="0"/>
              <a:t>, [start, [end]]) </a:t>
            </a:r>
            <a:r>
              <a:rPr lang="zh-CN" altLang="en-US" dirty="0"/>
              <a:t>：与</a:t>
            </a:r>
            <a:r>
              <a:rPr lang="en-US" altLang="zh-CN" dirty="0"/>
              <a:t>find()</a:t>
            </a:r>
            <a:r>
              <a:rPr lang="zh-CN" altLang="en-US" dirty="0"/>
              <a:t>相同，只是在字符串中没有</a:t>
            </a:r>
            <a:r>
              <a:rPr lang="en-US" altLang="zh-CN" dirty="0" err="1"/>
              <a:t>substr</a:t>
            </a:r>
            <a:r>
              <a:rPr lang="zh-CN" altLang="en-US" dirty="0"/>
              <a:t>时，会返回一个运行时错误 </a:t>
            </a:r>
          </a:p>
          <a:p>
            <a:pPr lvl="1"/>
            <a:r>
              <a:rPr lang="en-US" altLang="zh-CN" dirty="0" err="1"/>
              <a:t>rfind</a:t>
            </a:r>
            <a:r>
              <a:rPr lang="en-US" altLang="zh-CN" dirty="0"/>
              <a:t>(</a:t>
            </a:r>
            <a:r>
              <a:rPr lang="en-US" altLang="zh-CN" dirty="0" err="1"/>
              <a:t>substr</a:t>
            </a:r>
            <a:r>
              <a:rPr lang="en-US" altLang="zh-CN" dirty="0"/>
              <a:t>, [start, [end]])</a:t>
            </a:r>
            <a:r>
              <a:rPr lang="zh-CN" altLang="en-US" dirty="0"/>
              <a:t>：从右边开始搜索</a:t>
            </a:r>
          </a:p>
          <a:p>
            <a:pPr lvl="1"/>
            <a:r>
              <a:rPr lang="en-US" altLang="zh-CN" dirty="0" err="1"/>
              <a:t>rindex</a:t>
            </a:r>
            <a:r>
              <a:rPr lang="en-US" altLang="zh-CN" dirty="0"/>
              <a:t>(</a:t>
            </a:r>
            <a:r>
              <a:rPr lang="en-US" altLang="zh-CN" dirty="0" err="1"/>
              <a:t>substr</a:t>
            </a:r>
            <a:r>
              <a:rPr lang="en-US" altLang="zh-CN" dirty="0"/>
              <a:t>, [start, [end]]) </a:t>
            </a:r>
            <a:r>
              <a:rPr lang="zh-CN" altLang="en-US" dirty="0"/>
              <a:t>：从右边开始搜索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count</a:t>
            </a:r>
            <a:r>
              <a:rPr lang="en-US" altLang="zh-CN" dirty="0"/>
              <a:t>(</a:t>
            </a:r>
            <a:r>
              <a:rPr lang="en-US" altLang="zh-CN" dirty="0" err="1"/>
              <a:t>substr</a:t>
            </a:r>
            <a:r>
              <a:rPr lang="en-US" altLang="zh-CN" dirty="0"/>
              <a:t>, [start, [end]]) </a:t>
            </a:r>
            <a:r>
              <a:rPr lang="zh-CN" altLang="en-US" dirty="0"/>
              <a:t>：计算</a:t>
            </a:r>
            <a:r>
              <a:rPr lang="en-US" altLang="zh-CN" dirty="0" err="1"/>
              <a:t>substr</a:t>
            </a:r>
            <a:r>
              <a:rPr lang="zh-CN" altLang="en-US" dirty="0"/>
              <a:t>在字符串中出现的次数 </a:t>
            </a:r>
          </a:p>
          <a:p>
            <a:pPr lvl="1">
              <a:buNone/>
            </a:pPr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8024" y="2505698"/>
            <a:ext cx="7489329" cy="4917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2.3-5 </a:t>
            </a:r>
            <a:r>
              <a:rPr lang="zh-CN" altLang="en-US" dirty="0"/>
              <a:t>字符串的方法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替换</a:t>
            </a:r>
          </a:p>
          <a:p>
            <a:pPr lvl="1"/>
            <a:r>
              <a:rPr lang="en-US" altLang="zh-CN" dirty="0"/>
              <a:t>replace(</a:t>
            </a:r>
            <a:r>
              <a:rPr lang="en-US" altLang="zh-CN" dirty="0" err="1"/>
              <a:t>oldstr</a:t>
            </a:r>
            <a:r>
              <a:rPr lang="en-US" altLang="zh-CN" dirty="0"/>
              <a:t>, </a:t>
            </a:r>
            <a:r>
              <a:rPr lang="en-US" altLang="zh-CN" dirty="0" err="1"/>
              <a:t>newstr</a:t>
            </a:r>
            <a:r>
              <a:rPr lang="en-US" altLang="zh-CN" dirty="0"/>
              <a:t>, [count]) </a:t>
            </a:r>
            <a:r>
              <a:rPr lang="zh-CN" altLang="en-US" dirty="0"/>
              <a:t>：把字符串中</a:t>
            </a:r>
            <a:r>
              <a:rPr lang="en-US" altLang="zh-CN" dirty="0" err="1"/>
              <a:t>oldstar</a:t>
            </a:r>
            <a:r>
              <a:rPr lang="zh-CN" altLang="en-US" dirty="0"/>
              <a:t>替换为</a:t>
            </a:r>
            <a:r>
              <a:rPr lang="en-US" altLang="zh-CN" dirty="0" err="1"/>
              <a:t>newstr</a:t>
            </a:r>
            <a:r>
              <a:rPr lang="zh-CN" altLang="en-US" dirty="0"/>
              <a:t>，</a:t>
            </a:r>
            <a:r>
              <a:rPr lang="en-US" altLang="zh-CN" dirty="0"/>
              <a:t>count</a:t>
            </a:r>
            <a:r>
              <a:rPr lang="zh-CN" altLang="en-US" dirty="0"/>
              <a:t>为替换次数。这是替换的通用形式，还有一些函数进行特殊字符的替换</a:t>
            </a:r>
          </a:p>
          <a:p>
            <a:pPr lvl="1"/>
            <a:r>
              <a:rPr lang="en-US" altLang="zh-CN" dirty="0">
                <a:solidFill>
                  <a:srgbClr val="FFC000"/>
                </a:solidFill>
              </a:rPr>
              <a:t>strip</a:t>
            </a:r>
            <a:r>
              <a:rPr lang="en-US" altLang="zh-CN" dirty="0"/>
              <a:t>([chars])</a:t>
            </a:r>
            <a:r>
              <a:rPr lang="zh-CN" altLang="en-US" dirty="0"/>
              <a:t>：把字符串中前后</a:t>
            </a:r>
            <a:r>
              <a:rPr lang="en-US" altLang="zh-CN" dirty="0"/>
              <a:t>chars</a:t>
            </a:r>
            <a:r>
              <a:rPr lang="zh-CN" altLang="en-US" dirty="0"/>
              <a:t>有的字符全部去掉，可以理解为把字符串前后</a:t>
            </a:r>
            <a:r>
              <a:rPr lang="en-US" altLang="zh-CN" dirty="0"/>
              <a:t>chars</a:t>
            </a:r>
            <a:r>
              <a:rPr lang="zh-CN" altLang="en-US" dirty="0"/>
              <a:t>替换为</a:t>
            </a:r>
            <a:r>
              <a:rPr lang="en-US" altLang="zh-CN" dirty="0"/>
              <a:t>None </a:t>
            </a:r>
          </a:p>
          <a:p>
            <a:pPr lvl="1"/>
            <a:r>
              <a:rPr lang="en-US" altLang="zh-CN" dirty="0" err="1"/>
              <a:t>lstrip</a:t>
            </a:r>
            <a:r>
              <a:rPr lang="en-US" altLang="zh-CN" dirty="0"/>
              <a:t>([chars]) </a:t>
            </a:r>
            <a:r>
              <a:rPr lang="zh-CN" altLang="en-US" dirty="0"/>
              <a:t>：同上，但去掉左边的</a:t>
            </a:r>
          </a:p>
          <a:p>
            <a:pPr lvl="1"/>
            <a:r>
              <a:rPr lang="en-US" altLang="zh-CN" dirty="0" err="1"/>
              <a:t>rstrip</a:t>
            </a:r>
            <a:r>
              <a:rPr lang="en-US" altLang="zh-CN" dirty="0"/>
              <a:t>([chars]) </a:t>
            </a:r>
            <a:r>
              <a:rPr lang="zh-CN" altLang="en-US" dirty="0"/>
              <a:t>：同上，但去掉右边的</a:t>
            </a:r>
          </a:p>
          <a:p>
            <a:pPr lvl="1"/>
            <a:r>
              <a:rPr lang="en-US" altLang="zh-CN" dirty="0" err="1"/>
              <a:t>expandtabs</a:t>
            </a:r>
            <a:r>
              <a:rPr lang="en-US" altLang="zh-CN" dirty="0"/>
              <a:t>([</a:t>
            </a:r>
            <a:r>
              <a:rPr lang="en-US" altLang="zh-CN" dirty="0" err="1"/>
              <a:t>tabsize</a:t>
            </a:r>
            <a:r>
              <a:rPr lang="en-US" altLang="zh-CN" dirty="0"/>
              <a:t>])</a:t>
            </a:r>
            <a:r>
              <a:rPr lang="zh-CN" altLang="en-US" dirty="0"/>
              <a:t>：把字符串中的</a:t>
            </a:r>
            <a:r>
              <a:rPr lang="en-US" altLang="zh-CN" dirty="0"/>
              <a:t>tab</a:t>
            </a:r>
            <a:r>
              <a:rPr lang="zh-CN" altLang="en-US" dirty="0"/>
              <a:t>字符替换为空格，每个</a:t>
            </a:r>
            <a:r>
              <a:rPr lang="en-US" altLang="zh-CN" dirty="0"/>
              <a:t>tab</a:t>
            </a:r>
            <a:r>
              <a:rPr lang="zh-CN" altLang="en-US" dirty="0"/>
              <a:t>替换为</a:t>
            </a:r>
            <a:r>
              <a:rPr lang="en-US" altLang="zh-CN" dirty="0" err="1"/>
              <a:t>tabsize</a:t>
            </a:r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0072" y="1342411"/>
            <a:ext cx="7561263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2.3-5 </a:t>
            </a:r>
            <a:r>
              <a:rPr lang="zh-CN" altLang="en-US" dirty="0"/>
              <a:t>字符串的方法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判断</a:t>
            </a:r>
          </a:p>
          <a:p>
            <a:pPr lvl="1"/>
            <a:r>
              <a:rPr lang="en-US" altLang="zh-CN" dirty="0" err="1">
                <a:solidFill>
                  <a:srgbClr val="FFC000"/>
                </a:solidFill>
              </a:rPr>
              <a:t>startswith</a:t>
            </a:r>
            <a:r>
              <a:rPr lang="en-US" altLang="zh-CN" dirty="0"/>
              <a:t>(prefix[,start[,end]]) </a:t>
            </a:r>
            <a:r>
              <a:rPr lang="zh-CN" altLang="en-US" dirty="0"/>
              <a:t>：是否以</a:t>
            </a:r>
            <a:r>
              <a:rPr lang="en-US" altLang="zh-CN" dirty="0"/>
              <a:t>prefix</a:t>
            </a:r>
            <a:r>
              <a:rPr lang="zh-CN" altLang="en-US" dirty="0"/>
              <a:t>开头 </a:t>
            </a:r>
          </a:p>
          <a:p>
            <a:pPr lvl="1"/>
            <a:r>
              <a:rPr lang="en-US" altLang="zh-CN" dirty="0" err="1">
                <a:solidFill>
                  <a:srgbClr val="FFC000"/>
                </a:solidFill>
              </a:rPr>
              <a:t>endswith</a:t>
            </a:r>
            <a:r>
              <a:rPr lang="en-US" altLang="zh-CN" dirty="0"/>
              <a:t>(suffix[,start[,end]]) </a:t>
            </a:r>
            <a:r>
              <a:rPr lang="zh-CN" altLang="en-US" dirty="0"/>
              <a:t>：以</a:t>
            </a:r>
            <a:r>
              <a:rPr lang="en-US" altLang="zh-CN" dirty="0"/>
              <a:t>suffix</a:t>
            </a:r>
            <a:r>
              <a:rPr lang="zh-CN" altLang="en-US" dirty="0"/>
              <a:t>结尾 </a:t>
            </a:r>
          </a:p>
          <a:p>
            <a:pPr lvl="1"/>
            <a:r>
              <a:rPr lang="en-US" altLang="zh-CN" dirty="0" err="1"/>
              <a:t>isalnum</a:t>
            </a:r>
            <a:r>
              <a:rPr lang="en-US" altLang="zh-CN" dirty="0"/>
              <a:t>() </a:t>
            </a:r>
            <a:r>
              <a:rPr lang="zh-CN" altLang="en-US" dirty="0"/>
              <a:t>：是否全是字母和数字，并至少有一个字符 </a:t>
            </a:r>
          </a:p>
          <a:p>
            <a:pPr lvl="1"/>
            <a:r>
              <a:rPr lang="en-US" altLang="zh-CN" dirty="0" err="1">
                <a:solidFill>
                  <a:schemeClr val="bg1"/>
                </a:solidFill>
              </a:rPr>
              <a:t>isalpha</a:t>
            </a:r>
            <a:r>
              <a:rPr lang="en-US" altLang="zh-CN" dirty="0">
                <a:solidFill>
                  <a:schemeClr val="bg1"/>
                </a:solidFill>
              </a:rPr>
              <a:t>() </a:t>
            </a:r>
            <a:r>
              <a:rPr lang="zh-CN" altLang="en-US" dirty="0"/>
              <a:t>：是否全是字母，并至少有一个字符 、</a:t>
            </a:r>
          </a:p>
          <a:p>
            <a:pPr lvl="1"/>
            <a:r>
              <a:rPr lang="en-US" altLang="zh-CN" dirty="0" err="1">
                <a:solidFill>
                  <a:schemeClr val="bg1"/>
                </a:solidFill>
              </a:rPr>
              <a:t>isdigit</a:t>
            </a:r>
            <a:r>
              <a:rPr lang="en-US" altLang="zh-CN" dirty="0"/>
              <a:t>() </a:t>
            </a:r>
            <a:r>
              <a:rPr lang="zh-CN" altLang="en-US" dirty="0"/>
              <a:t>：是否全是数字，并至少有一个字符 </a:t>
            </a:r>
          </a:p>
          <a:p>
            <a:pPr lvl="1"/>
            <a:r>
              <a:rPr lang="en-US" altLang="zh-CN" dirty="0" err="1"/>
              <a:t>isspace</a:t>
            </a:r>
            <a:r>
              <a:rPr lang="en-US" altLang="zh-CN" dirty="0"/>
              <a:t>() </a:t>
            </a:r>
            <a:r>
              <a:rPr lang="zh-CN" altLang="en-US" dirty="0"/>
              <a:t>：是否全是空白字符，并至少有一个字符 </a:t>
            </a:r>
          </a:p>
          <a:p>
            <a:pPr lvl="1"/>
            <a:r>
              <a:rPr lang="en-US" altLang="zh-CN" dirty="0" err="1">
                <a:solidFill>
                  <a:srgbClr val="FFC000"/>
                </a:solidFill>
              </a:rPr>
              <a:t>islower</a:t>
            </a:r>
            <a:r>
              <a:rPr lang="en-US" altLang="zh-CN" dirty="0"/>
              <a:t>()</a:t>
            </a:r>
            <a:r>
              <a:rPr lang="zh-CN" altLang="en-US" dirty="0"/>
              <a:t>：字符串中的字母是否全是小写 </a:t>
            </a:r>
          </a:p>
          <a:p>
            <a:pPr lvl="1"/>
            <a:r>
              <a:rPr lang="en-US" altLang="zh-CN" dirty="0" err="1">
                <a:solidFill>
                  <a:srgbClr val="FFC000"/>
                </a:solidFill>
              </a:rPr>
              <a:t>isupper</a:t>
            </a:r>
            <a:r>
              <a:rPr lang="en-US" altLang="zh-CN" dirty="0"/>
              <a:t>() </a:t>
            </a:r>
            <a:r>
              <a:rPr lang="zh-CN" altLang="en-US" dirty="0"/>
              <a:t>：字符串中的字母是否便是大写 </a:t>
            </a:r>
          </a:p>
          <a:p>
            <a:pPr lvl="1"/>
            <a:r>
              <a:rPr lang="en-US" altLang="zh-CN" dirty="0" err="1"/>
              <a:t>istitle</a:t>
            </a:r>
            <a:r>
              <a:rPr lang="en-US" altLang="zh-CN" dirty="0"/>
              <a:t>() </a:t>
            </a:r>
            <a:r>
              <a:rPr lang="zh-CN" altLang="en-US" dirty="0"/>
              <a:t>：字符串是否是首字母大写的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2.3-6 </a:t>
            </a:r>
            <a:r>
              <a:rPr lang="zh-CN" altLang="en-US"/>
              <a:t>字符串性质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字符串是一种序列</a:t>
            </a:r>
          </a:p>
          <a:p>
            <a:r>
              <a:rPr lang="zh-CN" altLang="en-US" dirty="0"/>
              <a:t>字符串是</a:t>
            </a:r>
            <a:r>
              <a:rPr lang="zh-CN" altLang="en-US" dirty="0">
                <a:solidFill>
                  <a:srgbClr val="FF0000"/>
                </a:solidFill>
              </a:rPr>
              <a:t>不可变</a:t>
            </a:r>
            <a:r>
              <a:rPr lang="zh-CN" altLang="en-US" dirty="0"/>
              <a:t>的</a:t>
            </a:r>
          </a:p>
          <a:p>
            <a:pPr lvl="1"/>
            <a:r>
              <a:rPr lang="zh-CN" altLang="en-US" dirty="0"/>
              <a:t>修改字符串后就会重新产生一个新字符串</a:t>
            </a:r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1800" y="2947987"/>
            <a:ext cx="7848600" cy="230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元组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黑体" pitchFamily="49" charset="-122"/>
              </a:rPr>
              <a:t>定义：由数个逗号分隔的值组成，如</a:t>
            </a:r>
          </a:p>
          <a:p>
            <a:pPr lvl="1"/>
            <a:r>
              <a:rPr lang="en-US" altLang="zh-CN" sz="2200" dirty="0">
                <a:ea typeface="黑体" pitchFamily="49" charset="-122"/>
              </a:rPr>
              <a:t>t=(1,2,3)</a:t>
            </a:r>
          </a:p>
          <a:p>
            <a:pPr lvl="1"/>
            <a:r>
              <a:rPr lang="en-US" altLang="zh-CN" sz="2200" dirty="0">
                <a:ea typeface="黑体" pitchFamily="49" charset="-122"/>
              </a:rPr>
              <a:t>x=(</a:t>
            </a:r>
            <a:r>
              <a:rPr lang="en-US" altLang="zh-CN" sz="2200" dirty="0">
                <a:latin typeface="Arial" panose="020B0604020202090204" pitchFamily="34" charset="0"/>
                <a:ea typeface="黑体" pitchFamily="49" charset="-122"/>
              </a:rPr>
              <a:t>‘</a:t>
            </a:r>
            <a:r>
              <a:rPr lang="en-US" altLang="zh-CN" sz="2200" dirty="0">
                <a:ea typeface="黑体" pitchFamily="49" charset="-122"/>
              </a:rPr>
              <a:t>c</a:t>
            </a:r>
            <a:r>
              <a:rPr lang="en-US" altLang="zh-CN" sz="2200" dirty="0">
                <a:latin typeface="Arial" panose="020B0604020202090204" pitchFamily="34" charset="0"/>
                <a:ea typeface="黑体" pitchFamily="49" charset="-122"/>
              </a:rPr>
              <a:t>’</a:t>
            </a:r>
            <a:r>
              <a:rPr lang="en-US" altLang="zh-CN" sz="2200" dirty="0">
                <a:ea typeface="黑体" pitchFamily="49" charset="-122"/>
              </a:rPr>
              <a:t>,</a:t>
            </a:r>
            <a:r>
              <a:rPr lang="en-US" altLang="zh-CN" sz="2200" dirty="0">
                <a:latin typeface="Arial" panose="020B0604020202090204" pitchFamily="34" charset="0"/>
                <a:ea typeface="黑体" pitchFamily="49" charset="-122"/>
              </a:rPr>
              <a:t>’</a:t>
            </a:r>
            <a:r>
              <a:rPr lang="en-US" altLang="zh-CN" sz="2200" dirty="0">
                <a:ea typeface="黑体" pitchFamily="49" charset="-122"/>
              </a:rPr>
              <a:t>h</a:t>
            </a:r>
            <a:r>
              <a:rPr lang="en-US" altLang="zh-CN" sz="2200" dirty="0">
                <a:latin typeface="Arial" panose="020B0604020202090204" pitchFamily="34" charset="0"/>
                <a:ea typeface="黑体" pitchFamily="49" charset="-122"/>
              </a:rPr>
              <a:t>’</a:t>
            </a:r>
            <a:r>
              <a:rPr lang="en-US" altLang="zh-CN" sz="2200" dirty="0">
                <a:ea typeface="黑体" pitchFamily="49" charset="-122"/>
              </a:rPr>
              <a:t>,12,</a:t>
            </a:r>
            <a:r>
              <a:rPr lang="en-US" altLang="zh-CN" sz="2200" dirty="0">
                <a:latin typeface="Arial" panose="020B0604020202090204" pitchFamily="34" charset="0"/>
                <a:ea typeface="黑体" pitchFamily="49" charset="-122"/>
              </a:rPr>
              <a:t>’</a:t>
            </a:r>
            <a:r>
              <a:rPr lang="en-US" altLang="zh-CN" sz="2200" dirty="0">
                <a:ea typeface="黑体" pitchFamily="49" charset="-122"/>
              </a:rPr>
              <a:t>2</a:t>
            </a:r>
            <a:r>
              <a:rPr lang="en-US" altLang="zh-CN" sz="2200" dirty="0">
                <a:latin typeface="Arial" panose="020B0604020202090204" pitchFamily="34" charset="0"/>
                <a:ea typeface="黑体" pitchFamily="49" charset="-122"/>
              </a:rPr>
              <a:t>’</a:t>
            </a:r>
            <a:r>
              <a:rPr lang="en-US" altLang="zh-CN" sz="2200" dirty="0">
                <a:ea typeface="黑体" pitchFamily="49" charset="-122"/>
              </a:rPr>
              <a:t>,(1,2,3))</a:t>
            </a:r>
          </a:p>
          <a:p>
            <a:r>
              <a:rPr lang="zh-CN" altLang="en-US" dirty="0">
                <a:ea typeface="黑体" pitchFamily="49" charset="-122"/>
              </a:rPr>
              <a:t>性质</a:t>
            </a:r>
          </a:p>
          <a:p>
            <a:pPr lvl="1"/>
            <a:r>
              <a:rPr lang="zh-CN" altLang="en-US" sz="2200" dirty="0">
                <a:ea typeface="黑体" pitchFamily="49" charset="-122"/>
              </a:rPr>
              <a:t>元组在输出时</a:t>
            </a:r>
            <a:r>
              <a:rPr lang="zh-CN" altLang="en-US" sz="2200" dirty="0">
                <a:solidFill>
                  <a:srgbClr val="FFC000"/>
                </a:solidFill>
                <a:ea typeface="黑体" pitchFamily="49" charset="-122"/>
              </a:rPr>
              <a:t>总是有括号</a:t>
            </a:r>
            <a:r>
              <a:rPr lang="zh-CN" altLang="en-US" sz="2200" dirty="0">
                <a:ea typeface="黑体" pitchFamily="49" charset="-122"/>
              </a:rPr>
              <a:t>的</a:t>
            </a:r>
          </a:p>
          <a:p>
            <a:pPr lvl="1"/>
            <a:r>
              <a:rPr lang="zh-CN" altLang="en-US" sz="2200" dirty="0">
                <a:ea typeface="黑体" pitchFamily="49" charset="-122"/>
              </a:rPr>
              <a:t>元组在输入时可以</a:t>
            </a:r>
            <a:r>
              <a:rPr lang="zh-CN" altLang="en-US" sz="2200" dirty="0">
                <a:solidFill>
                  <a:srgbClr val="FFC000"/>
                </a:solidFill>
                <a:ea typeface="黑体" pitchFamily="49" charset="-122"/>
              </a:rPr>
              <a:t>没有括号</a:t>
            </a:r>
          </a:p>
          <a:p>
            <a:pPr lvl="1"/>
            <a:r>
              <a:rPr lang="zh-CN" altLang="en-US" sz="2200" dirty="0">
                <a:ea typeface="黑体" pitchFamily="49" charset="-122"/>
              </a:rPr>
              <a:t>像字符串一样，元组是</a:t>
            </a:r>
            <a:r>
              <a:rPr lang="zh-CN" altLang="en-US" sz="2200" dirty="0">
                <a:solidFill>
                  <a:srgbClr val="FF0000"/>
                </a:solidFill>
                <a:ea typeface="黑体" pitchFamily="49" charset="-122"/>
              </a:rPr>
              <a:t>不可变</a:t>
            </a:r>
            <a:r>
              <a:rPr lang="zh-CN" altLang="en-US" sz="2200" dirty="0">
                <a:ea typeface="黑体" pitchFamily="49" charset="-122"/>
              </a:rPr>
              <a:t>的</a:t>
            </a:r>
          </a:p>
          <a:p>
            <a:pPr lvl="1"/>
            <a:r>
              <a:rPr lang="zh-CN" altLang="en-US" sz="2200" dirty="0">
                <a:ea typeface="黑体" pitchFamily="49" charset="-122"/>
              </a:rPr>
              <a:t>元组可以嵌套，元素可以是任意类型</a:t>
            </a:r>
          </a:p>
          <a:p>
            <a:pPr lvl="1"/>
            <a:r>
              <a:rPr lang="zh-CN" altLang="en-US" sz="2200" dirty="0">
                <a:ea typeface="黑体" pitchFamily="49" charset="-122"/>
              </a:rPr>
              <a:t>创建元组不定长，但一旦创建后不可改变长度</a:t>
            </a:r>
          </a:p>
          <a:p>
            <a:pPr lvl="1"/>
            <a:endParaRPr lang="zh-CN" altLang="en-US" dirty="0">
              <a:ea typeface="黑体" pitchFamily="49" charset="-122"/>
            </a:endParaRPr>
          </a:p>
          <a:p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832" y="4455009"/>
            <a:ext cx="8401614" cy="2995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元组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性质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sz="2200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元组中只包含一个元素时，</a:t>
            </a:r>
            <a:br>
              <a:rPr lang="en-US" altLang="zh-CN" sz="2200" b="0" i="0" dirty="0">
                <a:solidFill>
                  <a:schemeClr val="bg1"/>
                </a:solidFill>
                <a:effectLst/>
                <a:latin typeface="Helvetica Neue" panose="02000503000000020004"/>
              </a:rPr>
            </a:br>
            <a:r>
              <a:rPr lang="zh-CN" altLang="en-US" sz="2200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需要在元素后面添加逗号，</a:t>
            </a:r>
            <a:br>
              <a:rPr lang="en-US" altLang="zh-CN" sz="2200" b="0" i="0" dirty="0">
                <a:solidFill>
                  <a:schemeClr val="bg1"/>
                </a:solidFill>
                <a:effectLst/>
                <a:latin typeface="Helvetica Neue" panose="02000503000000020004"/>
              </a:rPr>
            </a:br>
            <a:r>
              <a:rPr lang="zh-CN" altLang="en-US" sz="2200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否则括号会被当作运算符</a:t>
            </a:r>
            <a:br>
              <a:rPr lang="en-US" altLang="zh-CN" sz="2200" b="0" i="0" dirty="0">
                <a:solidFill>
                  <a:schemeClr val="bg1"/>
                </a:solidFill>
                <a:effectLst/>
                <a:latin typeface="Helvetica Neue" panose="02000503000000020004"/>
              </a:rPr>
            </a:br>
            <a:r>
              <a:rPr lang="zh-CN" altLang="en-US" sz="2200" b="0" i="0" dirty="0">
                <a:solidFill>
                  <a:schemeClr val="bg1"/>
                </a:solidFill>
                <a:effectLst/>
                <a:latin typeface="Helvetica Neue" panose="02000503000000020004"/>
              </a:rPr>
              <a:t>使用</a:t>
            </a:r>
            <a:endParaRPr lang="en-US" altLang="zh-CN" sz="2200" b="0" i="0" dirty="0">
              <a:solidFill>
                <a:schemeClr val="bg1"/>
              </a:solidFill>
              <a:effectLst/>
              <a:latin typeface="Helvetica Neue" panose="02000503000000020004"/>
            </a:endParaRPr>
          </a:p>
          <a:p>
            <a:pPr marL="457200" lvl="1" indent="0">
              <a:buNone/>
            </a:pPr>
            <a:endParaRPr lang="en-US" altLang="zh-CN" sz="2200" b="0" dirty="0">
              <a:solidFill>
                <a:schemeClr val="bg1"/>
              </a:solidFill>
              <a:latin typeface="Helvetica Neue" panose="02000503000000020004"/>
            </a:endParaRPr>
          </a:p>
          <a:p>
            <a:pPr marL="457200" lvl="1" indent="0">
              <a:buNone/>
            </a:pPr>
            <a:endParaRPr lang="en-US" altLang="zh-CN" sz="2200" b="0" dirty="0">
              <a:solidFill>
                <a:schemeClr val="bg1"/>
              </a:solidFill>
              <a:latin typeface="Helvetica Neue" panose="02000503000000020004"/>
            </a:endParaRPr>
          </a:p>
          <a:p>
            <a:r>
              <a:rPr lang="zh-CN" altLang="en-US" sz="2400" b="0" dirty="0">
                <a:solidFill>
                  <a:schemeClr val="bg1"/>
                </a:solidFill>
                <a:latin typeface="Helvetica Neue" panose="02000503000000020004"/>
              </a:rPr>
              <a:t>元组运算</a:t>
            </a:r>
            <a:endParaRPr lang="en-US" altLang="zh-CN" sz="2400" b="0" dirty="0">
              <a:solidFill>
                <a:schemeClr val="bg1"/>
              </a:solidFill>
              <a:latin typeface="Helvetica Neue" panose="02000503000000020004"/>
            </a:endParaRPr>
          </a:p>
          <a:p>
            <a:pPr lvl="1"/>
            <a:endParaRPr lang="zh-CN" altLang="en-US" sz="2200" dirty="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635820"/>
            <a:ext cx="5328592" cy="37749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211" y="918221"/>
            <a:ext cx="3960440" cy="2441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字典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</a:p>
          <a:p>
            <a:pPr lvl="1"/>
            <a:r>
              <a:rPr lang="zh-CN" altLang="en-US" dirty="0"/>
              <a:t>通过关键字索引的无序数据集合</a:t>
            </a:r>
          </a:p>
          <a:p>
            <a:pPr lvl="1"/>
            <a:r>
              <a:rPr lang="zh-CN" altLang="en-US" dirty="0"/>
              <a:t>例如：</a:t>
            </a:r>
          </a:p>
          <a:p>
            <a:endParaRPr lang="en-US" altLang="zh-CN" dirty="0"/>
          </a:p>
          <a:p>
            <a:r>
              <a:rPr lang="zh-CN" altLang="en-US" dirty="0"/>
              <a:t>性质</a:t>
            </a:r>
          </a:p>
          <a:p>
            <a:pPr lvl="1"/>
            <a:r>
              <a:rPr lang="zh-CN" altLang="en-US" dirty="0"/>
              <a:t>序列是以</a:t>
            </a:r>
            <a:r>
              <a:rPr lang="zh-CN" altLang="en-US" dirty="0">
                <a:solidFill>
                  <a:srgbClr val="FFC000"/>
                </a:solidFill>
              </a:rPr>
              <a:t>整数为索引</a:t>
            </a:r>
            <a:r>
              <a:rPr lang="zh-CN" altLang="en-US" dirty="0"/>
              <a:t>，与此不同，字典以</a:t>
            </a:r>
            <a:r>
              <a:rPr lang="zh-CN" altLang="en-US" dirty="0">
                <a:solidFill>
                  <a:srgbClr val="FFC000"/>
                </a:solidFill>
              </a:rPr>
              <a:t>关键字</a:t>
            </a:r>
            <a:r>
              <a:rPr lang="zh-CN" altLang="en-US" dirty="0">
                <a:solidFill>
                  <a:srgbClr val="92D050"/>
                </a:solidFill>
              </a:rPr>
              <a:t>（键）</a:t>
            </a:r>
            <a:r>
              <a:rPr lang="zh-CN" altLang="en-US" dirty="0"/>
              <a:t>为索引</a:t>
            </a:r>
          </a:p>
          <a:p>
            <a:pPr lvl="1"/>
            <a:r>
              <a:rPr lang="zh-CN" altLang="en-US" dirty="0"/>
              <a:t>关键字可以是任何</a:t>
            </a:r>
            <a:r>
              <a:rPr lang="zh-CN" altLang="en-US" dirty="0">
                <a:solidFill>
                  <a:srgbClr val="FFC000"/>
                </a:solidFill>
              </a:rPr>
              <a:t>不可变类型</a:t>
            </a:r>
            <a:r>
              <a:rPr lang="zh-CN" altLang="en-US" dirty="0"/>
              <a:t>，通常用字符串或数字</a:t>
            </a:r>
          </a:p>
          <a:p>
            <a:pPr lvl="1"/>
            <a:r>
              <a:rPr lang="zh-CN" altLang="en-US" dirty="0"/>
              <a:t>不能用列表作为关键字，因为列表随时可能被改变</a:t>
            </a:r>
          </a:p>
          <a:p>
            <a:pPr lvl="1"/>
            <a:r>
              <a:rPr lang="zh-CN" altLang="en-US" dirty="0">
                <a:solidFill>
                  <a:srgbClr val="FFC000"/>
                </a:solidFill>
              </a:rPr>
              <a:t>关键字必须是互不相同</a:t>
            </a:r>
            <a:r>
              <a:rPr lang="zh-CN" altLang="en-US" dirty="0"/>
              <a:t>的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968" y="1835621"/>
            <a:ext cx="3876303" cy="34274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字典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键和值</a:t>
            </a:r>
          </a:p>
          <a:p>
            <a:pPr lvl="1"/>
            <a:r>
              <a:rPr lang="en-US" altLang="zh-CN" dirty="0"/>
              <a:t>keys(): </a:t>
            </a:r>
            <a:r>
              <a:rPr lang="zh-CN" altLang="en-US" dirty="0"/>
              <a:t>取所有键</a:t>
            </a:r>
          </a:p>
          <a:p>
            <a:pPr lvl="1"/>
            <a:r>
              <a:rPr lang="en-US" altLang="zh-CN" dirty="0"/>
              <a:t>values()</a:t>
            </a:r>
            <a:r>
              <a:rPr lang="zh-CN" altLang="en-US" dirty="0"/>
              <a:t>：取所有键所对应的值</a:t>
            </a:r>
          </a:p>
          <a:p>
            <a:pPr lvl="1"/>
            <a:r>
              <a:rPr lang="en-US" altLang="zh-CN" dirty="0"/>
              <a:t>items(): </a:t>
            </a:r>
            <a:r>
              <a:rPr lang="zh-CN" altLang="en-US" dirty="0"/>
              <a:t>取所有键与值对</a:t>
            </a:r>
          </a:p>
          <a:p>
            <a:pPr lvl="1"/>
            <a:r>
              <a:rPr lang="en-US" altLang="zh-CN" dirty="0"/>
              <a:t>get(key):</a:t>
            </a:r>
            <a:r>
              <a:rPr lang="zh-CN" altLang="en-US" dirty="0"/>
              <a:t>取得键</a:t>
            </a:r>
            <a:r>
              <a:rPr lang="en-US" altLang="zh-CN" dirty="0"/>
              <a:t>key</a:t>
            </a:r>
            <a:r>
              <a:rPr lang="zh-CN" altLang="en-US" dirty="0"/>
              <a:t>所对应的值</a:t>
            </a:r>
          </a:p>
          <a:p>
            <a:pPr lvl="1">
              <a:buNone/>
            </a:pPr>
            <a:endParaRPr lang="zh-CN" altLang="en-US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160" y="1285392"/>
            <a:ext cx="6627641" cy="5994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</a:t>
            </a:r>
            <a:r>
              <a:rPr lang="zh-CN" altLang="en-US" dirty="0"/>
              <a:t>集合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集合的定义</a:t>
            </a:r>
            <a:endParaRPr lang="en-US" altLang="zh-CN" dirty="0"/>
          </a:p>
          <a:p>
            <a:pPr lvl="1"/>
            <a:r>
              <a:rPr lang="zh-CN" altLang="en-US" dirty="0"/>
              <a:t>集合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set</a:t>
            </a:r>
            <a:r>
              <a:rPr lang="en-US" altLang="zh-CN" dirty="0"/>
              <a:t>)</a:t>
            </a:r>
            <a:r>
              <a:rPr lang="zh-CN" altLang="en-US" dirty="0"/>
              <a:t>是一个无序的，不重复的数据组合</a:t>
            </a:r>
            <a:endParaRPr lang="en-US" altLang="zh-CN" dirty="0"/>
          </a:p>
          <a:p>
            <a:pPr lvl="1"/>
            <a:r>
              <a:rPr lang="zh-CN" altLang="en-US" dirty="0"/>
              <a:t>集合类型有</a:t>
            </a:r>
            <a:r>
              <a:rPr lang="zh-CN" altLang="en-US" dirty="0">
                <a:solidFill>
                  <a:srgbClr val="FF0000"/>
                </a:solidFill>
              </a:rPr>
              <a:t>可变</a:t>
            </a:r>
            <a:r>
              <a:rPr lang="zh-CN" altLang="en-US" dirty="0">
                <a:solidFill>
                  <a:schemeClr val="bg1"/>
                </a:solidFill>
              </a:rPr>
              <a:t>集合</a:t>
            </a:r>
            <a:r>
              <a:rPr lang="en-US" altLang="zh-CN" dirty="0"/>
              <a:t>(set())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不可变</a:t>
            </a:r>
            <a:r>
              <a:rPr lang="zh-CN" altLang="en-US" dirty="0"/>
              <a:t>集合</a:t>
            </a:r>
            <a:r>
              <a:rPr lang="en-US" altLang="zh-CN" dirty="0"/>
              <a:t>(</a:t>
            </a:r>
            <a:r>
              <a:rPr lang="en-US" altLang="zh-CN" dirty="0" err="1"/>
              <a:t>frozenset</a:t>
            </a:r>
            <a:r>
              <a:rPr lang="en-US" altLang="zh-CN" dirty="0"/>
              <a:t>)</a:t>
            </a:r>
            <a:r>
              <a:rPr lang="zh-CN" altLang="en-US" dirty="0"/>
              <a:t>两种</a:t>
            </a:r>
            <a:endParaRPr lang="en-US" altLang="zh-CN" dirty="0"/>
          </a:p>
          <a:p>
            <a:pPr lvl="1"/>
            <a:r>
              <a:rPr lang="zh-CN" altLang="en-US" dirty="0"/>
              <a:t>主要作用如下：</a:t>
            </a:r>
            <a:endParaRPr lang="en-US" altLang="zh-CN" dirty="0"/>
          </a:p>
          <a:p>
            <a:pPr lvl="2"/>
            <a:r>
              <a:rPr lang="zh-CN" altLang="en-US" dirty="0"/>
              <a:t>去重：把一个列表变成集合，就自动去重了</a:t>
            </a:r>
            <a:endParaRPr lang="en-US" altLang="zh-CN" dirty="0"/>
          </a:p>
          <a:p>
            <a:pPr lvl="2"/>
            <a:r>
              <a:rPr lang="zh-CN" altLang="en-US" dirty="0"/>
              <a:t>关系测试：测试两组数据之间的交集、差集、并集等关系</a:t>
            </a:r>
            <a:endParaRPr lang="en-US" altLang="zh-CN" dirty="0"/>
          </a:p>
          <a:p>
            <a:pPr lvl="1"/>
            <a:r>
              <a:rPr lang="zh-CN" altLang="en-US" dirty="0"/>
              <a:t>集合对象还支持</a:t>
            </a:r>
            <a:r>
              <a:rPr lang="zh-CN" altLang="en-US" dirty="0">
                <a:solidFill>
                  <a:srgbClr val="FFC000"/>
                </a:solidFill>
              </a:rPr>
              <a:t>union</a:t>
            </a:r>
            <a:r>
              <a:rPr lang="zh-CN" altLang="en-US" dirty="0"/>
              <a:t>(联合), </a:t>
            </a:r>
            <a:r>
              <a:rPr lang="zh-CN" altLang="en-US" dirty="0">
                <a:solidFill>
                  <a:srgbClr val="FFC000"/>
                </a:solidFill>
              </a:rPr>
              <a:t>intersection</a:t>
            </a:r>
            <a:r>
              <a:rPr lang="zh-CN" altLang="en-US" dirty="0"/>
              <a:t>(交), </a:t>
            </a:r>
            <a:r>
              <a:rPr lang="zh-CN" altLang="en-US" dirty="0">
                <a:solidFill>
                  <a:srgbClr val="FFC000"/>
                </a:solidFill>
              </a:rPr>
              <a:t>difference</a:t>
            </a:r>
            <a:r>
              <a:rPr lang="zh-CN" altLang="en-US" dirty="0"/>
              <a:t>(差)和 </a:t>
            </a:r>
            <a:r>
              <a:rPr lang="zh-CN" altLang="en-US" dirty="0">
                <a:solidFill>
                  <a:srgbClr val="FFC000"/>
                </a:solidFill>
              </a:rPr>
              <a:t>sysmmetric difference</a:t>
            </a:r>
            <a:r>
              <a:rPr lang="zh-CN" altLang="en-US" dirty="0"/>
              <a:t>(对称差集)等数学运算</a:t>
            </a:r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44264" y="90894"/>
            <a:ext cx="65" cy="276999"/>
          </a:xfrm>
          <a:prstGeom prst="rect">
            <a:avLst/>
          </a:prstGeom>
          <a:solidFill>
            <a:srgbClr val="FAF7E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56" y="4246996"/>
            <a:ext cx="5832648" cy="30332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">
      <a:majorFont>
        <a:latin typeface="FZSongTi"/>
        <a:ea typeface="FZSongTi"/>
        <a:cs typeface="FZSongTi"/>
      </a:majorFont>
      <a:minorFont>
        <a:latin typeface="FZSongTi"/>
        <a:ea typeface="FZSongTi"/>
        <a:cs typeface="FZSongT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8945" rtl="0" eaLnBrk="1" fontAlgn="base" latinLnBrk="0" hangingPunct="0">
          <a:lnSpc>
            <a:spcPct val="11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50305040509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Sung Light SC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8945" rtl="0" eaLnBrk="1" fontAlgn="base" latinLnBrk="0" hangingPunct="0">
          <a:lnSpc>
            <a:spcPct val="112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503050405090304" pitchFamily="18" charset="0"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Sung Light SC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2652</Words>
  <Application>Microsoft Office PowerPoint</Application>
  <PresentationFormat>自定义</PresentationFormat>
  <Paragraphs>450</Paragraphs>
  <Slides>39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3" baseType="lpstr">
      <vt:lpstr>FZSongTi</vt:lpstr>
      <vt:lpstr>Helvetica Neue</vt:lpstr>
      <vt:lpstr>MSung Light SC</vt:lpstr>
      <vt:lpstr>SFMono-Regular</vt:lpstr>
      <vt:lpstr>黑体</vt:lpstr>
      <vt:lpstr>宋体</vt:lpstr>
      <vt:lpstr>微软雅黑</vt:lpstr>
      <vt:lpstr>新宋体</vt:lpstr>
      <vt:lpstr>Arial</vt:lpstr>
      <vt:lpstr>Consolas</vt:lpstr>
      <vt:lpstr>Courier New</vt:lpstr>
      <vt:lpstr>Times New Roman</vt:lpstr>
      <vt:lpstr>Wingdings</vt:lpstr>
      <vt:lpstr>1_Office 主题</vt:lpstr>
      <vt:lpstr>第2章 数据结构</vt:lpstr>
      <vt:lpstr>提纲</vt:lpstr>
      <vt:lpstr>2.1 数据类型与运算符</vt:lpstr>
      <vt:lpstr>2.1-1 标识符与变量</vt:lpstr>
      <vt:lpstr>2.1-2 数据类型</vt:lpstr>
      <vt:lpstr>2.1-3 运算符</vt:lpstr>
      <vt:lpstr>2.1-3 运算符</vt:lpstr>
      <vt:lpstr>2.1-3 运算符</vt:lpstr>
      <vt:lpstr>2.2 列表</vt:lpstr>
      <vt:lpstr>2.2-1 列表常量与基本操作</vt:lpstr>
      <vt:lpstr>2.2-2 列表的方法</vt:lpstr>
      <vt:lpstr>2.2-2 列表的方法</vt:lpstr>
      <vt:lpstr>2.2-2 列表的方法</vt:lpstr>
      <vt:lpstr>2.2-2 列表的方法</vt:lpstr>
      <vt:lpstr>2.2-2 列表的方法</vt:lpstr>
      <vt:lpstr>2.2-2 列表的方法</vt:lpstr>
      <vt:lpstr>2.2-2 列表的方法</vt:lpstr>
      <vt:lpstr>2.2-3 列表的性质</vt:lpstr>
      <vt:lpstr>2.3 字符串</vt:lpstr>
      <vt:lpstr>2.3-1 转义字符</vt:lpstr>
      <vt:lpstr>2.3-2 字符串基本操作</vt:lpstr>
      <vt:lpstr>2.3-3 字符串转化</vt:lpstr>
      <vt:lpstr>2.3-4 字符串格式化</vt:lpstr>
      <vt:lpstr>2.3-4 字符串格式化</vt:lpstr>
      <vt:lpstr>2.3-4 字符串格式化</vt:lpstr>
      <vt:lpstr>2.3-4 字符串格式化</vt:lpstr>
      <vt:lpstr>2.3-4 字符串格式化</vt:lpstr>
      <vt:lpstr>2.3-5 字符串的方法</vt:lpstr>
      <vt:lpstr>2.3-5 字符串的方法</vt:lpstr>
      <vt:lpstr>2.3-5 字符串的方法</vt:lpstr>
      <vt:lpstr>2.3-5 字符串的方法</vt:lpstr>
      <vt:lpstr>2.3-5 字符串的方法</vt:lpstr>
      <vt:lpstr>2.3-5 字符串的方法</vt:lpstr>
      <vt:lpstr>2.3-6 字符串性质</vt:lpstr>
      <vt:lpstr>2.4 元组</vt:lpstr>
      <vt:lpstr>2.4 元组</vt:lpstr>
      <vt:lpstr>2.5 字典</vt:lpstr>
      <vt:lpstr>2.5 字典</vt:lpstr>
      <vt:lpstr>2.6 集合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推荐介绍策略</dc:title>
  <dc:creator>smallfish chen</dc:creator>
  <dc:description>推荐不同的策略，并介绍一个策略的形成过程</dc:description>
  <cp:lastModifiedBy>鑫怡 丁</cp:lastModifiedBy>
  <cp:revision>229</cp:revision>
  <cp:lastPrinted>2022-03-02T11:50:45Z</cp:lastPrinted>
  <dcterms:created xsi:type="dcterms:W3CDTF">2022-03-02T11:50:45Z</dcterms:created>
  <dcterms:modified xsi:type="dcterms:W3CDTF">2024-03-06T02:05:49Z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1033-3.1.4.5932</vt:lpwstr>
  </property>
</Properties>
</file>